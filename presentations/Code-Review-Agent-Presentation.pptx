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 min): Welcome everyone! Today we'll present our Code Review Agent — an AI-powered system that automatically analyzes code quality. Built over 2 weeks by a team of 5, this project demonstrates agentic AI using the ReACT loop pattern. We achieved an 85/100 audit score with 257 passing tests.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This project was designed to solve real code review bottlenecks... We chose the ReACT (Reasoning + Acting) loop because it's the industry standard for autonomous AI agents. Key result: 85/100 audit score shows high code quality.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 min): Manual code review is essential but expensive... A single review can take 30-60 minutes. Our agent automates the initial pass, catching common issues instantly.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Our solution is a complete pipeline from GitHub URL to comprehensive review report. The user submits a repository URL, our agent fetches the code, analyzes it using 5+ tools, and generates a detailed report with scores, issues found, and improvement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 min): Let me explain ReACT — it stands for Reasoning + Acting. Unlike traditional chatbots that just respond, ReACT agents actively think about what to do, take actions, observe results, and reflect on next steps. This is why modern AI agents work so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 min): The system has 5 main components working together... The Agent Core orchestrates everything. Tools give the agent capabilities. LLM provides reasoning. FastAPI serves the API. Streamlit provides the UI.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 min): Here's the full architecture... Backend has 6 main areas: API, Agent, Tools, LLM, Database, and Config. Frontend is Streamlit with API client. Testing has 257 tests with 85%+ coverage using mock providers.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(2 min): Each team member owned a critical component... Person 1 built the ReACT loop, Person 2 created analysis tools, Person 3 handled LLM integration, Person 4 built the backend API, Person 5 created the Streamlit frontend.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Let me walk through what we actually built... The ReACT loop is the core innovation. We have 5 specialized tools. The system supports multiple LLM providers. Full API documentation is auto-generated by FastAPI. And we validated everything with 257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 min): Our tech stack is modern Python ecosystem... FastAPI for backend, Streamlit for frontend, Gemini for AI reasoning. We also have comprehensive testing infrastructure with Ruff linting and MyPy type checking.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 min): The numbers speak for themselves... 6,000+ lines of production Python code, 257 tests all passing, 85%+ code coverage, and an 85/100 audit score from our internal code review process.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Let me walk through the demo flow... User submits a GitHub URL. Agent starts the ReACT loop. It fetches the code, runs analysis tools, generates a report using LLM, and displays results. The whole process takes 30-60 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Here are screenshots of the working system... The Streamlit UI is clean and professional. FastAPI automatically generates API docs. Review results show quality scores with detailed issue breakdown. Our test coverage is 85%+ across all modules.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We learned a lot building this... The ReACT framework is powerful but the quality depends heavily on how you prompt the LLM. Well-designed tools make the agent smarter. Testing caught many regressions. Modular code let us work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(1.5 min): Looking ahead, we could add multi-language support, custom rules, and CI/CD integration. But even in its current state, the system works well — 85/100 audit score, 257 tests, and a successful team collaboration across all roles.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(1 min): Thank you everyone for listening! We're happy to answer any questions about the architecture, implementation decisions, or how we'd extend this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ctr">
              <a:defRPr sz="5400" b="1">
                <a:solidFill>
                  <a:srgbClr val="FFFFFF"/>
                </a:solidFill>
                <a:latin typeface="Calibri"/>
              </a:defRPr>
            </a:pPr>
            <a:r>
              <a:t>Code Review Agent</a:t>
            </a:r>
          </a:p>
        </p:txBody>
      </p:sp>
      <p:sp>
        <p:nvSpPr>
          <p:cNvPr id="4" name="TextBox 3"/>
          <p:cNvSpPr txBox="1"/>
          <p:nvPr/>
        </p:nvSpPr>
        <p:spPr>
          <a:xfrm>
            <a:off x="914400" y="2468880"/>
            <a:ext cx="10058400" cy="731520"/>
          </a:xfrm>
          <a:prstGeom prst="rect">
            <a:avLst/>
          </a:prstGeom>
          <a:noFill/>
        </p:spPr>
        <p:txBody>
          <a:bodyPr wrap="square">
            <a:spAutoFit/>
          </a:bodyPr>
          <a:lstStyle/>
          <a:p>
            <a:pPr algn="ctr">
              <a:defRPr sz="2800" b="0">
                <a:solidFill>
                  <a:srgbClr val="2E86C1"/>
                </a:solidFill>
                <a:latin typeface="Calibri"/>
              </a:defRPr>
            </a:pPr>
            <a:r>
              <a:t>AI-Powered Automated Code Analysis</a:t>
            </a:r>
          </a:p>
        </p:txBody>
      </p:sp>
      <p:sp>
        <p:nvSpPr>
          <p:cNvPr id="5" name="Rectangle 4"/>
          <p:cNvSpPr/>
          <p:nvPr/>
        </p:nvSpPr>
        <p:spPr>
          <a:xfrm>
            <a:off x="4114800" y="3291840"/>
            <a:ext cx="393192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657600"/>
            <a:ext cx="10058400" cy="548640"/>
          </a:xfrm>
          <a:prstGeom prst="rect">
            <a:avLst/>
          </a:prstGeom>
          <a:noFill/>
        </p:spPr>
        <p:txBody>
          <a:bodyPr wrap="square">
            <a:spAutoFit/>
          </a:bodyPr>
          <a:lstStyle/>
          <a:p>
            <a:pPr algn="ctr">
              <a:defRPr sz="2000" b="0">
                <a:solidFill>
                  <a:srgbClr val="E0E6ED"/>
                </a:solidFill>
                <a:latin typeface="Calibri"/>
              </a:defRPr>
            </a:pPr>
            <a:r>
              <a:t>An Agentic AI Learning Project — ReACT Loop Architecture</a:t>
            </a:r>
          </a:p>
        </p:txBody>
      </p:sp>
      <p:sp>
        <p:nvSpPr>
          <p:cNvPr id="7" name="TextBox 6"/>
          <p:cNvSpPr txBox="1"/>
          <p:nvPr/>
        </p:nvSpPr>
        <p:spPr>
          <a:xfrm>
            <a:off x="914400" y="4572000"/>
            <a:ext cx="10058400" cy="457200"/>
          </a:xfrm>
          <a:prstGeom prst="rect">
            <a:avLst/>
          </a:prstGeom>
          <a:noFill/>
        </p:spPr>
        <p:txBody>
          <a:bodyPr wrap="square">
            <a:spAutoFit/>
          </a:bodyPr>
          <a:lstStyle/>
          <a:p>
            <a:pPr algn="ctr">
              <a:defRPr sz="1800" b="0">
                <a:solidFill>
                  <a:srgbClr val="8AAAC8"/>
                </a:solidFill>
                <a:latin typeface="Calibri"/>
              </a:defRPr>
            </a:pPr>
            <a:r>
              <a:t>Team: Person 1 · Person 2 · Person 3 · Person 4 · Person 5</a:t>
            </a:r>
          </a:p>
        </p:txBody>
      </p:sp>
      <p:sp>
        <p:nvSpPr>
          <p:cNvPr id="8" name="TextBox 7"/>
          <p:cNvSpPr txBox="1"/>
          <p:nvPr/>
        </p:nvSpPr>
        <p:spPr>
          <a:xfrm>
            <a:off x="914400" y="5029200"/>
            <a:ext cx="10058400" cy="457200"/>
          </a:xfrm>
          <a:prstGeom prst="rect">
            <a:avLst/>
          </a:prstGeom>
          <a:noFill/>
        </p:spPr>
        <p:txBody>
          <a:bodyPr wrap="square">
            <a:spAutoFit/>
          </a:bodyPr>
          <a:lstStyle/>
          <a:p>
            <a:pPr algn="ctr">
              <a:defRPr sz="1600" b="0">
                <a:solidFill>
                  <a:srgbClr val="6A8AA8"/>
                </a:solidFill>
                <a:latin typeface="Calibri"/>
              </a:defRPr>
            </a:pPr>
            <a:r>
              <a:t>January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Project Overview</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1200"/>
              </a:spcAft>
              <a:defRPr sz="2000">
                <a:solidFill>
                  <a:srgbClr val="E0E6ED"/>
                </a:solidFill>
                <a:latin typeface="Calibri"/>
              </a:defRPr>
            </a:pPr>
            <a:r>
              <a:t>What: AI system that autonomously reviews code from GitHub repositories</a:t>
            </a:r>
          </a:p>
          <a:p>
            <a:pPr>
              <a:spcAft>
                <a:spcPts val="1200"/>
              </a:spcAft>
              <a:defRPr sz="2000">
                <a:solidFill>
                  <a:srgbClr val="E0E6ED"/>
                </a:solidFill>
                <a:latin typeface="Calibri"/>
              </a:defRPr>
            </a:pPr>
            <a:r>
              <a:t>Why: Learn Agentic AI development with ReACT loop architecture</a:t>
            </a:r>
          </a:p>
          <a:p>
            <a:pPr>
              <a:spcAft>
                <a:spcPts val="1200"/>
              </a:spcAft>
              <a:defRPr sz="2000">
                <a:solidFill>
                  <a:srgbClr val="E0E6ED"/>
                </a:solidFill>
                <a:latin typeface="Calibri"/>
              </a:defRPr>
            </a:pPr>
            <a:r>
              <a:t>How: Agent reasons (Think → Act → Observe → Reflect) using LLM + Tools</a:t>
            </a:r>
          </a:p>
          <a:p>
            <a:pPr>
              <a:spcAft>
                <a:spcPts val="1200"/>
              </a:spcAft>
              <a:defRPr sz="2000">
                <a:solidFill>
                  <a:srgbClr val="E0E6ED"/>
                </a:solidFill>
                <a:latin typeface="Calibri"/>
              </a:defRPr>
            </a:pPr>
            <a:r>
              <a:t>Status: Complete • 85/100 audit score • 257 tests passing • Production-ready</a:t>
            </a:r>
          </a:p>
          <a:p>
            <a:pPr>
              <a:spcAft>
                <a:spcPts val="1200"/>
              </a:spcAft>
              <a:defRPr sz="2000">
                <a:solidFill>
                  <a:srgbClr val="E0E6ED"/>
                </a:solidFill>
                <a:latin typeface="Calibri"/>
              </a:defRPr>
            </a:pPr>
            <a:r>
              <a:t>Team: 5 members • 2-week sprint • 6,000+ lines of Python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The Problem</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1200"/>
              </a:spcAft>
              <a:defRPr sz="2000">
                <a:solidFill>
                  <a:srgbClr val="E0E6ED"/>
                </a:solidFill>
                <a:latin typeface="Calibri"/>
              </a:defRPr>
            </a:pPr>
            <a:r>
              <a:t>Manual code reviews are time-consuming and inconsistent between reviewers</a:t>
            </a:r>
          </a:p>
          <a:p>
            <a:pPr>
              <a:spcAft>
                <a:spcPts val="1200"/>
              </a:spcAft>
              <a:defRPr sz="2000">
                <a:solidFill>
                  <a:srgbClr val="E0E6ED"/>
                </a:solidFill>
                <a:latin typeface="Calibri"/>
              </a:defRPr>
            </a:pPr>
            <a:r>
              <a:t>Teams struggle to catch security vulnerabilities, performance issues, and bugs</a:t>
            </a:r>
          </a:p>
          <a:p>
            <a:pPr>
              <a:spcAft>
                <a:spcPts val="1200"/>
              </a:spcAft>
              <a:defRPr sz="2000">
                <a:solidFill>
                  <a:srgbClr val="E0E6ED"/>
                </a:solidFill>
                <a:latin typeface="Calibri"/>
              </a:defRPr>
            </a:pPr>
            <a:r>
              <a:t>Small teams lack bandwidth for thorough reviews of every pull request</a:t>
            </a:r>
          </a:p>
          <a:p>
            <a:pPr>
              <a:spcAft>
                <a:spcPts val="1200"/>
              </a:spcAft>
              <a:defRPr sz="2000">
                <a:solidFill>
                  <a:srgbClr val="E0E6ED"/>
                </a:solidFill>
                <a:latin typeface="Calibri"/>
              </a:defRPr>
            </a:pPr>
            <a:r>
              <a:t>Need for an automated, intelligent system that learns and adapts to codebases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Solution: Code Review Agent</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486400" cy="457200"/>
          </a:xfrm>
          <a:prstGeom prst="rect">
            <a:avLst/>
          </a:prstGeom>
          <a:noFill/>
        </p:spPr>
        <p:txBody>
          <a:bodyPr wrap="square">
            <a:spAutoFit/>
          </a:bodyPr>
          <a:lstStyle/>
          <a:p>
            <a:pPr algn="l">
              <a:defRPr sz="2000" b="0">
                <a:solidFill>
                  <a:srgbClr val="E0E6ED"/>
                </a:solidFill>
                <a:latin typeface="Calibri"/>
              </a:defRPr>
            </a:pPr>
            <a:r>
              <a:t>End-to-End Automated Code Analysis Pipeline</a:t>
            </a:r>
          </a:p>
        </p:txBody>
      </p:sp>
      <p:sp>
        <p:nvSpPr>
          <p:cNvPr id="6" name="Rounded Rectangle 5"/>
          <p:cNvSpPr/>
          <p:nvPr/>
        </p:nvSpPr>
        <p:spPr>
          <a:xfrm>
            <a:off x="548640" y="2194560"/>
            <a:ext cx="2560320" cy="164592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GitHub URL</a:t>
            </a:r>
          </a:p>
          <a:p>
            <a:pPr>
              <a:defRPr sz="1300">
                <a:solidFill>
                  <a:srgbClr val="E0E6ED"/>
                </a:solidFill>
                <a:latin typeface="Calibri"/>
              </a:defRPr>
            </a:pPr>
            <a:r>
              <a:t>User submits a</a:t>
            </a:r>
            <a:br/>
            <a:r>
              <a:t>repository URL for review</a:t>
            </a:r>
          </a:p>
        </p:txBody>
      </p:sp>
      <p:sp>
        <p:nvSpPr>
          <p:cNvPr id="7" name="Rounded Rectangle 6"/>
          <p:cNvSpPr/>
          <p:nvPr/>
        </p:nvSpPr>
        <p:spPr>
          <a:xfrm>
            <a:off x="3657600" y="2194560"/>
            <a:ext cx="2560320" cy="164592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Agent Core</a:t>
            </a:r>
          </a:p>
          <a:p>
            <a:pPr>
              <a:defRPr sz="1300">
                <a:solidFill>
                  <a:srgbClr val="E0E6ED"/>
                </a:solidFill>
                <a:latin typeface="Calibri"/>
              </a:defRPr>
            </a:pPr>
            <a:r>
              <a:t>ReACT loop processes</a:t>
            </a:r>
            <a:br/>
            <a:r>
              <a:t>code with LLM reasoning</a:t>
            </a:r>
          </a:p>
        </p:txBody>
      </p:sp>
      <p:sp>
        <p:nvSpPr>
          <p:cNvPr id="8" name="Rounded Rectangle 7"/>
          <p:cNvSpPr/>
          <p:nvPr/>
        </p:nvSpPr>
        <p:spPr>
          <a:xfrm>
            <a:off x="6766560" y="2194560"/>
            <a:ext cx="2560320" cy="164592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Analysis Tools</a:t>
            </a:r>
          </a:p>
          <a:p>
            <a:pPr>
              <a:defRPr sz="1300">
                <a:solidFill>
                  <a:srgbClr val="E0E6ED"/>
                </a:solidFill>
                <a:latin typeface="Calibri"/>
              </a:defRPr>
            </a:pPr>
            <a:r>
              <a:t>5+ specialized tools</a:t>
            </a:r>
            <a:br/>
            <a:r>
              <a:t>analyze the codebase</a:t>
            </a:r>
          </a:p>
        </p:txBody>
      </p:sp>
      <p:sp>
        <p:nvSpPr>
          <p:cNvPr id="9" name="Rounded Rectangle 8"/>
          <p:cNvSpPr/>
          <p:nvPr/>
        </p:nvSpPr>
        <p:spPr>
          <a:xfrm>
            <a:off x="9875520" y="2194560"/>
            <a:ext cx="2560320" cy="164592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Report</a:t>
            </a:r>
          </a:p>
          <a:p>
            <a:pPr>
              <a:defRPr sz="1300">
                <a:solidFill>
                  <a:srgbClr val="E0E6ED"/>
                </a:solidFill>
                <a:latin typeface="Calibri"/>
              </a:defRPr>
            </a:pPr>
            <a:r>
              <a:t>Comprehensive review</a:t>
            </a:r>
            <a:br/>
            <a:r>
              <a:t>with scores &amp; issues</a:t>
            </a:r>
          </a:p>
        </p:txBody>
      </p:sp>
      <p:sp>
        <p:nvSpPr>
          <p:cNvPr id="10" name="Right Arrow 9"/>
          <p:cNvSpPr/>
          <p:nvPr/>
        </p:nvSpPr>
        <p:spPr>
          <a:xfrm>
            <a:off x="3108960" y="283464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6217920" y="283464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9326880" y="283464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297680"/>
            <a:ext cx="10972800" cy="365760"/>
          </a:xfrm>
          <a:prstGeom prst="rect">
            <a:avLst/>
          </a:prstGeom>
          <a:noFill/>
        </p:spPr>
        <p:txBody>
          <a:bodyPr wrap="square">
            <a:spAutoFit/>
          </a:bodyPr>
          <a:lstStyle/>
          <a:p>
            <a:pPr algn="ctr">
              <a:defRPr sz="1600" b="0">
                <a:solidFill>
                  <a:srgbClr val="8AAAC8"/>
                </a:solidFill>
                <a:latin typeface="Calibri"/>
              </a:defRPr>
            </a:pPr>
            <a:r>
              <a:t>Tech Stack: Python 3.10+ • FastAPI • Streamlit • Gemini AI • SQLAlchemy • Pytest</a:t>
            </a:r>
          </a:p>
        </p:txBody>
      </p:sp>
      <p:sp>
        <p:nvSpPr>
          <p:cNvPr id="14" name="TextBox 13"/>
          <p:cNvSpPr txBox="1"/>
          <p:nvPr/>
        </p:nvSpPr>
        <p:spPr>
          <a:xfrm>
            <a:off x="548640" y="4754880"/>
            <a:ext cx="10972800" cy="365760"/>
          </a:xfrm>
          <a:prstGeom prst="rect">
            <a:avLst/>
          </a:prstGeom>
          <a:noFill/>
        </p:spPr>
        <p:txBody>
          <a:bodyPr wrap="square">
            <a:spAutoFit/>
          </a:bodyPr>
          <a:lstStyle/>
          <a:p>
            <a:pPr algn="ctr">
              <a:defRPr sz="1600" b="0">
                <a:solidFill>
                  <a:srgbClr val="F39C12"/>
                </a:solidFill>
                <a:latin typeface="Calibri"/>
              </a:defRPr>
            </a:pPr>
            <a:r>
              <a:t>257 Tests ✅  •  85/100 Audit Score  •  6,000+ Lines of Code  •  2-Week Sprint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What is the ReACT Loop?</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457200"/>
          </a:xfrm>
          <a:prstGeom prst="rect">
            <a:avLst/>
          </a:prstGeom>
          <a:noFill/>
        </p:spPr>
        <p:txBody>
          <a:bodyPr wrap="square">
            <a:spAutoFit/>
          </a:bodyPr>
          <a:lstStyle/>
          <a:p>
            <a:pPr algn="l">
              <a:defRPr sz="2000" b="0">
                <a:solidFill>
                  <a:srgbClr val="E0E6ED"/>
                </a:solidFill>
                <a:latin typeface="Calibri"/>
              </a:defRPr>
            </a:pPr>
            <a:r>
              <a:t>Reasoning + Acting = Intelligent Agent Behavior</a:t>
            </a:r>
          </a:p>
        </p:txBody>
      </p:sp>
      <p:sp>
        <p:nvSpPr>
          <p:cNvPr id="6" name="Rounded Rectangle 5"/>
          <p:cNvSpPr/>
          <p:nvPr/>
        </p:nvSpPr>
        <p:spPr>
          <a:xfrm>
            <a:off x="914400" y="2103120"/>
            <a:ext cx="2103120" cy="201168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  Think</a:t>
            </a:r>
          </a:p>
          <a:p>
            <a:pPr>
              <a:defRPr sz="1300">
                <a:solidFill>
                  <a:srgbClr val="E0E6ED"/>
                </a:solidFill>
                <a:latin typeface="Calibri"/>
              </a:defRPr>
            </a:pPr>
            <a:r>
              <a:t>Agent analyzes context</a:t>
            </a:r>
            <a:br/>
            <a:r>
              <a:t>decides next action</a:t>
            </a:r>
          </a:p>
        </p:txBody>
      </p:sp>
      <p:sp>
        <p:nvSpPr>
          <p:cNvPr id="7" name="Rounded Rectangle 6"/>
          <p:cNvSpPr/>
          <p:nvPr/>
        </p:nvSpPr>
        <p:spPr>
          <a:xfrm>
            <a:off x="4206240" y="2103120"/>
            <a:ext cx="2103120" cy="20116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  Act</a:t>
            </a:r>
          </a:p>
          <a:p>
            <a:pPr>
              <a:defRPr sz="1300">
                <a:solidFill>
                  <a:srgbClr val="E0E6ED"/>
                </a:solidFill>
                <a:latin typeface="Calibri"/>
              </a:defRPr>
            </a:pPr>
            <a:r>
              <a:t>Execute selected tool</a:t>
            </a:r>
            <a:br/>
            <a:r>
              <a:t>(run analysis, fetch data)</a:t>
            </a:r>
          </a:p>
        </p:txBody>
      </p:sp>
      <p:sp>
        <p:nvSpPr>
          <p:cNvPr id="8" name="Rounded Rectangle 7"/>
          <p:cNvSpPr/>
          <p:nvPr/>
        </p:nvSpPr>
        <p:spPr>
          <a:xfrm>
            <a:off x="7498079" y="2103120"/>
            <a:ext cx="2103120" cy="20116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  Observe</a:t>
            </a:r>
          </a:p>
          <a:p>
            <a:pPr>
              <a:defRPr sz="1300">
                <a:solidFill>
                  <a:srgbClr val="E0E6ED"/>
                </a:solidFill>
                <a:latin typeface="Calibri"/>
              </a:defRPr>
            </a:pPr>
            <a:r>
              <a:t>Collect tool output</a:t>
            </a:r>
            <a:br/>
            <a:r>
              <a:t>&amp; environment feedback</a:t>
            </a:r>
          </a:p>
        </p:txBody>
      </p:sp>
      <p:sp>
        <p:nvSpPr>
          <p:cNvPr id="9" name="Rounded Rectangle 8"/>
          <p:cNvSpPr/>
          <p:nvPr/>
        </p:nvSpPr>
        <p:spPr>
          <a:xfrm>
            <a:off x="10789920" y="2103120"/>
            <a:ext cx="2103120" cy="20116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defRPr sz="2000" b="1">
                <a:solidFill>
                  <a:srgbClr val="FFFFFF"/>
                </a:solidFill>
                <a:latin typeface="Calibri"/>
              </a:defRPr>
            </a:pPr>
            <a:r>
              <a:t>🔄  Reflect</a:t>
            </a:r>
          </a:p>
          <a:p>
            <a:pPr>
              <a:defRPr sz="1300">
                <a:solidFill>
                  <a:srgbClr val="E0E6ED"/>
                </a:solidFill>
                <a:latin typeface="Calibri"/>
              </a:defRPr>
            </a:pPr>
            <a:r>
              <a:t>Process observations</a:t>
            </a:r>
            <a:br/>
            <a:r>
              <a:t>plan next iteration</a:t>
            </a:r>
          </a:p>
        </p:txBody>
      </p:sp>
      <p:sp>
        <p:nvSpPr>
          <p:cNvPr id="10" name="Right Arrow 9"/>
          <p:cNvSpPr/>
          <p:nvPr/>
        </p:nvSpPr>
        <p:spPr>
          <a:xfrm>
            <a:off x="3017520" y="2743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6309360" y="2743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9601200" y="2743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4754880"/>
            <a:ext cx="3657600" cy="365760"/>
          </a:xfrm>
          <a:prstGeom prst="rect">
            <a:avLst/>
          </a:prstGeom>
          <a:noFill/>
        </p:spPr>
        <p:txBody>
          <a:bodyPr wrap="square">
            <a:spAutoFit/>
          </a:bodyPr>
          <a:lstStyle/>
          <a:p>
            <a:pPr algn="ctr">
              <a:defRPr sz="1600" b="0">
                <a:solidFill>
                  <a:srgbClr val="F39C12"/>
                </a:solidFill>
                <a:latin typeface="Calibri"/>
              </a:defRPr>
            </a:pPr>
            <a:r>
              <a:t>↻ Loop continues until task complete or max iterations reached</a:t>
            </a:r>
          </a:p>
        </p:txBody>
      </p:sp>
      <p:sp>
        <p:nvSpPr>
          <p:cNvPr id="14" name="TextBox 13"/>
          <p:cNvSpPr txBox="1"/>
          <p:nvPr/>
        </p:nvSpPr>
        <p:spPr>
          <a:xfrm>
            <a:off x="548640" y="5303520"/>
            <a:ext cx="10972800" cy="457200"/>
          </a:xfrm>
          <a:prstGeom prst="rect">
            <a:avLst/>
          </a:prstGeom>
          <a:noFill/>
        </p:spPr>
        <p:txBody>
          <a:bodyPr wrap="square">
            <a:spAutoFit/>
          </a:bodyPr>
          <a:lstStyle/>
          <a:p>
            <a:pPr algn="ctr">
              <a:defRPr sz="1600" b="0">
                <a:solidFill>
                  <a:srgbClr val="E0E6ED"/>
                </a:solidFill>
                <a:latin typeface="Calibri"/>
              </a:defRPr>
            </a:pPr>
            <a:r>
              <a:t>The ReACT loop enables the agent to reason about code, take actions like fetching files or running analysis, observe results, and iteratively refine its approach — exactly like a human reviewer would.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Key Components</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3200400" cy="365760"/>
          </a:xfrm>
          <a:prstGeom prst="rect">
            <a:avLst/>
          </a:prstGeom>
          <a:noFill/>
        </p:spPr>
        <p:txBody>
          <a:bodyPr wrap="square">
            <a:spAutoFit/>
          </a:bodyPr>
          <a:lstStyle/>
          <a:p>
            <a:pPr algn="l">
              <a:defRPr sz="2200" b="1">
                <a:solidFill>
                  <a:srgbClr val="2E86C1"/>
                </a:solidFill>
                <a:latin typeface="Calibri"/>
              </a:defRPr>
            </a:pPr>
            <a:r>
              <a:t>1. Agent Core</a:t>
            </a:r>
          </a:p>
        </p:txBody>
      </p:sp>
      <p:sp>
        <p:nvSpPr>
          <p:cNvPr id="6" name="TextBox 5"/>
          <p:cNvSpPr txBox="1"/>
          <p:nvPr/>
        </p:nvSpPr>
        <p:spPr>
          <a:xfrm>
            <a:off x="3840480" y="1371600"/>
            <a:ext cx="7772400" cy="914400"/>
          </a:xfrm>
          <a:prstGeom prst="rect">
            <a:avLst/>
          </a:prstGeom>
          <a:noFill/>
        </p:spPr>
        <p:txBody>
          <a:bodyPr wrap="square">
            <a:spAutoFit/>
          </a:bodyPr>
          <a:lstStyle/>
          <a:p>
            <a:pPr algn="l">
              <a:defRPr sz="1600" b="0">
                <a:solidFill>
                  <a:srgbClr val="E0E6ED"/>
                </a:solidFill>
                <a:latin typeface="Calibri"/>
              </a:defRPr>
            </a:pPr>
            <a:r>
              <a:t>ReACT loop controller — orchestrates Think → Act → Observe → Reflect cycle</a:t>
            </a:r>
            <a:br/>
            <a:r>
              <a:t>Manages state, context window, iteration limits, and tool routing</a:t>
            </a:r>
          </a:p>
        </p:txBody>
      </p:sp>
      <p:sp>
        <p:nvSpPr>
          <p:cNvPr id="7" name="TextBox 6"/>
          <p:cNvSpPr txBox="1"/>
          <p:nvPr/>
        </p:nvSpPr>
        <p:spPr>
          <a:xfrm>
            <a:off x="548640" y="2423160"/>
            <a:ext cx="3200400" cy="365760"/>
          </a:xfrm>
          <a:prstGeom prst="rect">
            <a:avLst/>
          </a:prstGeom>
          <a:noFill/>
        </p:spPr>
        <p:txBody>
          <a:bodyPr wrap="square">
            <a:spAutoFit/>
          </a:bodyPr>
          <a:lstStyle/>
          <a:p>
            <a:pPr algn="l">
              <a:defRPr sz="2200" b="1">
                <a:solidFill>
                  <a:srgbClr val="2E86C1"/>
                </a:solidFill>
                <a:latin typeface="Calibri"/>
              </a:defRPr>
            </a:pPr>
            <a:r>
              <a:t>2. Analysis Tools</a:t>
            </a:r>
          </a:p>
        </p:txBody>
      </p:sp>
      <p:sp>
        <p:nvSpPr>
          <p:cNvPr id="8" name="TextBox 7"/>
          <p:cNvSpPr txBox="1"/>
          <p:nvPr/>
        </p:nvSpPr>
        <p:spPr>
          <a:xfrm>
            <a:off x="3840480" y="2423160"/>
            <a:ext cx="7772400" cy="914400"/>
          </a:xfrm>
          <a:prstGeom prst="rect">
            <a:avLst/>
          </a:prstGeom>
          <a:noFill/>
        </p:spPr>
        <p:txBody>
          <a:bodyPr wrap="square">
            <a:spAutoFit/>
          </a:bodyPr>
          <a:lstStyle/>
          <a:p>
            <a:pPr algn="l">
              <a:defRPr sz="1600" b="0">
                <a:solidFill>
                  <a:srgbClr val="E0E6ED"/>
                </a:solidFill>
                <a:latin typeface="Calibri"/>
              </a:defRPr>
            </a:pPr>
            <a:r>
              <a:t>5+ specialized tools: Code fetch, structure analysis, security audit,</a:t>
            </a:r>
            <a:br/>
            <a:r>
              <a:t>performance check, dependency analysis, quality scoring</a:t>
            </a:r>
          </a:p>
        </p:txBody>
      </p:sp>
      <p:sp>
        <p:nvSpPr>
          <p:cNvPr id="9" name="TextBox 8"/>
          <p:cNvSpPr txBox="1"/>
          <p:nvPr/>
        </p:nvSpPr>
        <p:spPr>
          <a:xfrm>
            <a:off x="548640" y="3474720"/>
            <a:ext cx="3200400" cy="365760"/>
          </a:xfrm>
          <a:prstGeom prst="rect">
            <a:avLst/>
          </a:prstGeom>
          <a:noFill/>
        </p:spPr>
        <p:txBody>
          <a:bodyPr wrap="square">
            <a:spAutoFit/>
          </a:bodyPr>
          <a:lstStyle/>
          <a:p>
            <a:pPr algn="l">
              <a:defRPr sz="2200" b="1">
                <a:solidFill>
                  <a:srgbClr val="2E86C1"/>
                </a:solidFill>
                <a:latin typeface="Calibri"/>
              </a:defRPr>
            </a:pPr>
            <a:r>
              <a:t>3. LLM Integration</a:t>
            </a:r>
          </a:p>
        </p:txBody>
      </p:sp>
      <p:sp>
        <p:nvSpPr>
          <p:cNvPr id="10" name="TextBox 9"/>
          <p:cNvSpPr txBox="1"/>
          <p:nvPr/>
        </p:nvSpPr>
        <p:spPr>
          <a:xfrm>
            <a:off x="3840480" y="3474720"/>
            <a:ext cx="7772400" cy="914400"/>
          </a:xfrm>
          <a:prstGeom prst="rect">
            <a:avLst/>
          </a:prstGeom>
          <a:noFill/>
        </p:spPr>
        <p:txBody>
          <a:bodyPr wrap="square">
            <a:spAutoFit/>
          </a:bodyPr>
          <a:lstStyle/>
          <a:p>
            <a:pPr algn="l">
              <a:defRPr sz="1600" b="0">
                <a:solidFill>
                  <a:srgbClr val="E0E6ED"/>
                </a:solidFill>
                <a:latin typeface="Calibri"/>
              </a:defRPr>
            </a:pPr>
            <a:r>
              <a:t>Gemini 2.0 Flash (primary) • OpenAI GPT-4o-mini (alternative)</a:t>
            </a:r>
            <a:br/>
            <a:r>
              <a:t>Handles reasoning, tool selection, report generation</a:t>
            </a:r>
          </a:p>
        </p:txBody>
      </p:sp>
      <p:sp>
        <p:nvSpPr>
          <p:cNvPr id="11" name="TextBox 10"/>
          <p:cNvSpPr txBox="1"/>
          <p:nvPr/>
        </p:nvSpPr>
        <p:spPr>
          <a:xfrm>
            <a:off x="548640" y="4526279"/>
            <a:ext cx="3200400" cy="365760"/>
          </a:xfrm>
          <a:prstGeom prst="rect">
            <a:avLst/>
          </a:prstGeom>
          <a:noFill/>
        </p:spPr>
        <p:txBody>
          <a:bodyPr wrap="square">
            <a:spAutoFit/>
          </a:bodyPr>
          <a:lstStyle/>
          <a:p>
            <a:pPr algn="l">
              <a:defRPr sz="2200" b="1">
                <a:solidFill>
                  <a:srgbClr val="2E86C1"/>
                </a:solidFill>
                <a:latin typeface="Calibri"/>
              </a:defRPr>
            </a:pPr>
            <a:r>
              <a:t>4. FastAPI Backend</a:t>
            </a:r>
          </a:p>
        </p:txBody>
      </p:sp>
      <p:sp>
        <p:nvSpPr>
          <p:cNvPr id="12" name="TextBox 11"/>
          <p:cNvSpPr txBox="1"/>
          <p:nvPr/>
        </p:nvSpPr>
        <p:spPr>
          <a:xfrm>
            <a:off x="3840480" y="4526279"/>
            <a:ext cx="7772400" cy="914400"/>
          </a:xfrm>
          <a:prstGeom prst="rect">
            <a:avLst/>
          </a:prstGeom>
          <a:noFill/>
        </p:spPr>
        <p:txBody>
          <a:bodyPr wrap="square">
            <a:spAutoFit/>
          </a:bodyPr>
          <a:lstStyle/>
          <a:p>
            <a:pPr algn="l">
              <a:defRPr sz="1600" b="0">
                <a:solidFill>
                  <a:srgbClr val="E0E6ED"/>
                </a:solidFill>
                <a:latin typeface="Calibri"/>
              </a:defRPr>
            </a:pPr>
            <a:r>
              <a:t>REST API endpoints for review submission, history, health checks</a:t>
            </a:r>
            <a:br/>
            <a:r>
              <a:t>SQLAlchemy + SQLite for persistence • async support</a:t>
            </a:r>
          </a:p>
        </p:txBody>
      </p:sp>
      <p:sp>
        <p:nvSpPr>
          <p:cNvPr id="13" name="TextBox 12"/>
          <p:cNvSpPr txBox="1"/>
          <p:nvPr/>
        </p:nvSpPr>
        <p:spPr>
          <a:xfrm>
            <a:off x="548640" y="5577840"/>
            <a:ext cx="3200400" cy="365760"/>
          </a:xfrm>
          <a:prstGeom prst="rect">
            <a:avLst/>
          </a:prstGeom>
          <a:noFill/>
        </p:spPr>
        <p:txBody>
          <a:bodyPr wrap="square">
            <a:spAutoFit/>
          </a:bodyPr>
          <a:lstStyle/>
          <a:p>
            <a:pPr algn="l">
              <a:defRPr sz="2200" b="1">
                <a:solidFill>
                  <a:srgbClr val="2E86C1"/>
                </a:solidFill>
                <a:latin typeface="Calibri"/>
              </a:defRPr>
            </a:pPr>
            <a:r>
              <a:t>5. Streamlit UI</a:t>
            </a:r>
          </a:p>
        </p:txBody>
      </p:sp>
      <p:sp>
        <p:nvSpPr>
          <p:cNvPr id="14" name="TextBox 13"/>
          <p:cNvSpPr txBox="1"/>
          <p:nvPr/>
        </p:nvSpPr>
        <p:spPr>
          <a:xfrm>
            <a:off x="3840480" y="5577840"/>
            <a:ext cx="7772400" cy="914400"/>
          </a:xfrm>
          <a:prstGeom prst="rect">
            <a:avLst/>
          </a:prstGeom>
          <a:noFill/>
        </p:spPr>
        <p:txBody>
          <a:bodyPr wrap="square">
            <a:spAutoFit/>
          </a:bodyPr>
          <a:lstStyle/>
          <a:p>
            <a:pPr algn="l">
              <a:defRPr sz="1600" b="0">
                <a:solidFill>
                  <a:srgbClr val="E0E6ED"/>
                </a:solidFill>
                <a:latin typeface="Calibri"/>
              </a:defRPr>
            </a:pPr>
            <a:r>
              <a:t>Web interface with code input, review history, live progress</a:t>
            </a:r>
            <a:br/>
            <a:r>
              <a:t>Sidebar configuration • real-time status updates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Technical Architecture</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6858000" cy="475488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4572000" cy="365760"/>
          </a:xfrm>
          <a:prstGeom prst="rect">
            <a:avLst/>
          </a:prstGeom>
          <a:noFill/>
        </p:spPr>
        <p:txBody>
          <a:bodyPr wrap="square">
            <a:spAutoFit/>
          </a:bodyPr>
          <a:lstStyle/>
          <a:p>
            <a:pPr algn="l">
              <a:defRPr sz="2000" b="1">
                <a:solidFill>
                  <a:srgbClr val="F39C12"/>
                </a:solidFill>
                <a:latin typeface="Calibri"/>
              </a:defRPr>
            </a:pPr>
            <a:r>
              <a:t>BACKEND (FastAPI Server)</a:t>
            </a:r>
          </a:p>
        </p:txBody>
      </p:sp>
      <p:sp>
        <p:nvSpPr>
          <p:cNvPr id="7" name="Rectangle 6"/>
          <p:cNvSpPr/>
          <p:nvPr/>
        </p:nvSpPr>
        <p:spPr>
          <a:xfrm>
            <a:off x="731520" y="2103120"/>
            <a:ext cx="1828800" cy="9144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48840"/>
            <a:ext cx="1645920" cy="822960"/>
          </a:xfrm>
          <a:prstGeom prst="rect">
            <a:avLst/>
          </a:prstGeom>
          <a:noFill/>
        </p:spPr>
        <p:txBody>
          <a:bodyPr wrap="square">
            <a:spAutoFit/>
          </a:bodyPr>
          <a:lstStyle/>
          <a:p>
            <a:pPr algn="l">
              <a:defRPr sz="1100" b="0">
                <a:solidFill>
                  <a:srgbClr val="FFFFFF"/>
                </a:solidFill>
                <a:latin typeface="Calibri"/>
              </a:defRPr>
            </a:pPr>
            <a:r>
              <a:t>API Layer</a:t>
            </a:r>
            <a:br/>
            <a:r>
              <a:t>routes.py, dependencies.py</a:t>
            </a:r>
          </a:p>
        </p:txBody>
      </p:sp>
      <p:sp>
        <p:nvSpPr>
          <p:cNvPr id="9" name="Rectangle 8"/>
          <p:cNvSpPr/>
          <p:nvPr/>
        </p:nvSpPr>
        <p:spPr>
          <a:xfrm>
            <a:off x="731520" y="3200400"/>
            <a:ext cx="1828800" cy="914400"/>
          </a:xfrm>
          <a:prstGeom prst="rect">
            <a:avLst/>
          </a:prstGeom>
          <a:solidFill>
            <a:srgbClr val="2E86C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46120"/>
            <a:ext cx="1645920" cy="822960"/>
          </a:xfrm>
          <a:prstGeom prst="rect">
            <a:avLst/>
          </a:prstGeom>
          <a:noFill/>
        </p:spPr>
        <p:txBody>
          <a:bodyPr wrap="square">
            <a:spAutoFit/>
          </a:bodyPr>
          <a:lstStyle/>
          <a:p>
            <a:pPr algn="l">
              <a:defRPr sz="1100" b="0">
                <a:solidFill>
                  <a:srgbClr val="FFFFFF"/>
                </a:solidFill>
                <a:latin typeface="Calibri"/>
              </a:defRPr>
            </a:pPr>
            <a:r>
              <a:t>Agent Core</a:t>
            </a:r>
            <a:br/>
            <a:r>
              <a:t>agent.py, agent_types.py</a:t>
            </a:r>
          </a:p>
        </p:txBody>
      </p:sp>
      <p:sp>
        <p:nvSpPr>
          <p:cNvPr id="11" name="Rectangle 10"/>
          <p:cNvSpPr/>
          <p:nvPr/>
        </p:nvSpPr>
        <p:spPr>
          <a:xfrm>
            <a:off x="2743200" y="2103120"/>
            <a:ext cx="1828800" cy="914400"/>
          </a:xfrm>
          <a:prstGeom prst="rect">
            <a:avLst/>
          </a:prstGeom>
          <a:solidFill>
            <a:srgbClr val="F39C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2148840"/>
            <a:ext cx="1645920" cy="822960"/>
          </a:xfrm>
          <a:prstGeom prst="rect">
            <a:avLst/>
          </a:prstGeom>
          <a:noFill/>
        </p:spPr>
        <p:txBody>
          <a:bodyPr wrap="square">
            <a:spAutoFit/>
          </a:bodyPr>
          <a:lstStyle/>
          <a:p>
            <a:pPr algn="l">
              <a:defRPr sz="1100" b="0">
                <a:solidFill>
                  <a:srgbClr val="FFFFFF"/>
                </a:solidFill>
                <a:latin typeface="Calibri"/>
              </a:defRPr>
            </a:pPr>
            <a:r>
              <a:t>Analysis Tools</a:t>
            </a:r>
            <a:br/>
            <a:r>
              <a:t>code_fetch, security,</a:t>
            </a:r>
            <a:br/>
            <a:r>
              <a:t>performance, quality</a:t>
            </a:r>
          </a:p>
        </p:txBody>
      </p:sp>
      <p:sp>
        <p:nvSpPr>
          <p:cNvPr id="13" name="Rectangle 12"/>
          <p:cNvSpPr/>
          <p:nvPr/>
        </p:nvSpPr>
        <p:spPr>
          <a:xfrm>
            <a:off x="2743200" y="3200400"/>
            <a:ext cx="1828800" cy="914400"/>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3246120"/>
            <a:ext cx="1645920" cy="822960"/>
          </a:xfrm>
          <a:prstGeom prst="rect">
            <a:avLst/>
          </a:prstGeom>
          <a:noFill/>
        </p:spPr>
        <p:txBody>
          <a:bodyPr wrap="square">
            <a:spAutoFit/>
          </a:bodyPr>
          <a:lstStyle/>
          <a:p>
            <a:pPr algn="l">
              <a:defRPr sz="1100" b="0">
                <a:solidFill>
                  <a:srgbClr val="FFFFFF"/>
                </a:solidFill>
                <a:latin typeface="Calibri"/>
              </a:defRPr>
            </a:pPr>
            <a:r>
              <a:t>LLM Integration</a:t>
            </a:r>
            <a:br/>
            <a:r>
              <a:t>gemini_client, openai_client,</a:t>
            </a:r>
            <a:br/>
            <a:r>
              <a:t>llm_client</a:t>
            </a:r>
          </a:p>
        </p:txBody>
      </p:sp>
      <p:sp>
        <p:nvSpPr>
          <p:cNvPr id="15" name="Rectangle 14"/>
          <p:cNvSpPr/>
          <p:nvPr/>
        </p:nvSpPr>
        <p:spPr>
          <a:xfrm>
            <a:off x="4754880" y="2103120"/>
            <a:ext cx="1828800" cy="914400"/>
          </a:xfrm>
          <a:prstGeom prst="rect">
            <a:avLst/>
          </a:prstGeom>
          <a:solidFill>
            <a:srgbClr val="27AE6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2148840"/>
            <a:ext cx="1645920" cy="822960"/>
          </a:xfrm>
          <a:prstGeom prst="rect">
            <a:avLst/>
          </a:prstGeom>
          <a:noFill/>
        </p:spPr>
        <p:txBody>
          <a:bodyPr wrap="square">
            <a:spAutoFit/>
          </a:bodyPr>
          <a:lstStyle/>
          <a:p>
            <a:pPr algn="l">
              <a:defRPr sz="1100" b="0">
                <a:solidFill>
                  <a:srgbClr val="FFFFFF"/>
                </a:solidFill>
                <a:latin typeface="Calibri"/>
              </a:defRPr>
            </a:pPr>
            <a:r>
              <a:t>Database</a:t>
            </a:r>
            <a:br/>
            <a:r>
              <a:t>SQLAlchemy + SQLite</a:t>
            </a:r>
            <a:br/>
            <a:r>
              <a:t>ReviewRecord model</a:t>
            </a:r>
          </a:p>
        </p:txBody>
      </p:sp>
      <p:sp>
        <p:nvSpPr>
          <p:cNvPr id="17" name="Rectangle 16"/>
          <p:cNvSpPr/>
          <p:nvPr/>
        </p:nvSpPr>
        <p:spPr>
          <a:xfrm>
            <a:off x="4754880" y="3200400"/>
            <a:ext cx="1828800" cy="914400"/>
          </a:xfrm>
          <a:prstGeom prst="rect">
            <a:avLst/>
          </a:prstGeom>
          <a:solidFill>
            <a:srgbClr val="8E44AD"/>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3246120"/>
            <a:ext cx="1645920" cy="822960"/>
          </a:xfrm>
          <a:prstGeom prst="rect">
            <a:avLst/>
          </a:prstGeom>
          <a:noFill/>
        </p:spPr>
        <p:txBody>
          <a:bodyPr wrap="square">
            <a:spAutoFit/>
          </a:bodyPr>
          <a:lstStyle/>
          <a:p>
            <a:pPr algn="l">
              <a:defRPr sz="1100" b="0">
                <a:solidFill>
                  <a:srgbClr val="FFFFFF"/>
                </a:solidFill>
                <a:latin typeface="Calibri"/>
              </a:defRPr>
            </a:pPr>
            <a:r>
              <a:t>Config &amp; Utils</a:t>
            </a:r>
            <a:br/>
            <a:r>
              <a:t>settings.py, logger.py</a:t>
            </a:r>
            <a:br/>
            <a:r>
              <a:t>validation</a:t>
            </a:r>
          </a:p>
        </p:txBody>
      </p:sp>
      <p:sp>
        <p:nvSpPr>
          <p:cNvPr id="19" name="Rectangle 18"/>
          <p:cNvSpPr/>
          <p:nvPr/>
        </p:nvSpPr>
        <p:spPr>
          <a:xfrm>
            <a:off x="7772400" y="1463040"/>
            <a:ext cx="3931920" cy="22860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1554480"/>
            <a:ext cx="3657600" cy="365760"/>
          </a:xfrm>
          <a:prstGeom prst="rect">
            <a:avLst/>
          </a:prstGeom>
          <a:noFill/>
        </p:spPr>
        <p:txBody>
          <a:bodyPr wrap="square">
            <a:spAutoFit/>
          </a:bodyPr>
          <a:lstStyle/>
          <a:p>
            <a:pPr algn="l">
              <a:defRPr sz="2000" b="1">
                <a:solidFill>
                  <a:srgbClr val="F39C12"/>
                </a:solidFill>
                <a:latin typeface="Calibri"/>
              </a:defRPr>
            </a:pPr>
            <a:r>
              <a:t>FRONTEND (Streamlit)</a:t>
            </a:r>
          </a:p>
        </p:txBody>
      </p:sp>
      <p:sp>
        <p:nvSpPr>
          <p:cNvPr id="21" name="Rectangle 20"/>
          <p:cNvSpPr/>
          <p:nvPr/>
        </p:nvSpPr>
        <p:spPr>
          <a:xfrm>
            <a:off x="7955279" y="2103120"/>
            <a:ext cx="146304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28431" y="2148840"/>
            <a:ext cx="1371600" cy="731520"/>
          </a:xfrm>
          <a:prstGeom prst="rect">
            <a:avLst/>
          </a:prstGeom>
          <a:noFill/>
        </p:spPr>
        <p:txBody>
          <a:bodyPr wrap="square">
            <a:spAutoFit/>
          </a:bodyPr>
          <a:lstStyle/>
          <a:p>
            <a:pPr algn="l">
              <a:defRPr sz="1100" b="0">
                <a:solidFill>
                  <a:srgbClr val="FFFFFF"/>
                </a:solidFill>
                <a:latin typeface="Calibri"/>
              </a:defRPr>
            </a:pPr>
            <a:r>
              <a:t>UI Components</a:t>
            </a:r>
            <a:br/>
            <a:r>
              <a:t>streamlit_app.py</a:t>
            </a:r>
          </a:p>
        </p:txBody>
      </p:sp>
      <p:sp>
        <p:nvSpPr>
          <p:cNvPr id="23" name="Rectangle 22"/>
          <p:cNvSpPr/>
          <p:nvPr/>
        </p:nvSpPr>
        <p:spPr>
          <a:xfrm>
            <a:off x="9601200" y="2103120"/>
            <a:ext cx="1463040" cy="82296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74352" y="2148840"/>
            <a:ext cx="1371600" cy="731520"/>
          </a:xfrm>
          <a:prstGeom prst="rect">
            <a:avLst/>
          </a:prstGeom>
          <a:noFill/>
        </p:spPr>
        <p:txBody>
          <a:bodyPr wrap="square">
            <a:spAutoFit/>
          </a:bodyPr>
          <a:lstStyle/>
          <a:p>
            <a:pPr algn="l">
              <a:defRPr sz="1100" b="0">
                <a:solidFill>
                  <a:srgbClr val="FFFFFF"/>
                </a:solidFill>
                <a:latin typeface="Calibri"/>
              </a:defRPr>
            </a:pPr>
            <a:r>
              <a:t>API Client</a:t>
            </a:r>
            <a:br/>
            <a:r>
              <a:t>api_client.py</a:t>
            </a:r>
          </a:p>
        </p:txBody>
      </p:sp>
      <p:sp>
        <p:nvSpPr>
          <p:cNvPr id="25" name="Right Arrow 24"/>
          <p:cNvSpPr/>
          <p:nvPr/>
        </p:nvSpPr>
        <p:spPr>
          <a:xfrm>
            <a:off x="7589520" y="237744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0" y="4114800"/>
            <a:ext cx="393192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4206240"/>
            <a:ext cx="3657600" cy="365760"/>
          </a:xfrm>
          <a:prstGeom prst="rect">
            <a:avLst/>
          </a:prstGeom>
          <a:noFill/>
        </p:spPr>
        <p:txBody>
          <a:bodyPr wrap="square">
            <a:spAutoFit/>
          </a:bodyPr>
          <a:lstStyle/>
          <a:p>
            <a:pPr algn="l">
              <a:defRPr sz="2000" b="1">
                <a:solidFill>
                  <a:srgbClr val="F39C12"/>
                </a:solidFill>
                <a:latin typeface="Calibri"/>
              </a:defRPr>
            </a:pPr>
            <a:r>
              <a:t>TESTING (Pytest)</a:t>
            </a:r>
          </a:p>
        </p:txBody>
      </p:sp>
      <p:sp>
        <p:nvSpPr>
          <p:cNvPr id="28" name="TextBox 27"/>
          <p:cNvSpPr txBox="1"/>
          <p:nvPr/>
        </p:nvSpPr>
        <p:spPr>
          <a:xfrm>
            <a:off x="7955279" y="4754880"/>
            <a:ext cx="3657600" cy="1097280"/>
          </a:xfrm>
          <a:prstGeom prst="rect">
            <a:avLst/>
          </a:prstGeom>
          <a:noFill/>
        </p:spPr>
        <p:txBody>
          <a:bodyPr wrap="square">
            <a:spAutoFit/>
          </a:bodyPr>
          <a:lstStyle/>
          <a:p>
            <a:pPr algn="l">
              <a:defRPr sz="1400" b="0">
                <a:solidFill>
                  <a:srgbClr val="E0E6ED"/>
                </a:solidFill>
                <a:latin typeface="Calibri"/>
              </a:defRPr>
            </a:pPr>
            <a:r>
              <a:t>• 257 tests (unit + integration)</a:t>
            </a:r>
            <a:br/>
            <a:r>
              <a:t>• 85%+ code coverage</a:t>
            </a:r>
            <a:br/>
            <a:r>
              <a:t>• pytest-asyncio for async</a:t>
            </a:r>
            <a:br/>
            <a:r>
              <a:t>• Mock LLM provider for CI</a:t>
            </a:r>
            <a:br/>
            <a:r>
              <a:t>• SQLite in-memory for tests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Team Contributions</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2103120" cy="4754880"/>
          </a:xfrm>
          <a:prstGeom prst="rect">
            <a:avLst/>
          </a:prstGeom>
          <a:solidFill>
            <a:srgbClr val="1B3A5C"/>
          </a:solidFill>
          <a:ln>
            <a:solidFill>
              <a:srgbClr val="2C4A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00200"/>
            <a:ext cx="1737360" cy="457200"/>
          </a:xfrm>
          <a:prstGeom prst="rect">
            <a:avLst/>
          </a:prstGeom>
          <a:noFill/>
        </p:spPr>
        <p:txBody>
          <a:bodyPr wrap="square">
            <a:spAutoFit/>
          </a:bodyPr>
          <a:lstStyle/>
          <a:p>
            <a:pPr algn="l">
              <a:defRPr sz="2200" b="1">
                <a:solidFill>
                  <a:srgbClr val="2E86C1"/>
                </a:solidFill>
                <a:latin typeface="Calibri"/>
              </a:defRPr>
            </a:pPr>
            <a:r>
              <a:t>Person 1</a:t>
            </a:r>
            <a:br/>
            <a:r>
              <a:t>Agent Architect</a:t>
            </a:r>
          </a:p>
        </p:txBody>
      </p:sp>
      <p:sp>
        <p:nvSpPr>
          <p:cNvPr id="7" name="TextBox 6"/>
          <p:cNvSpPr txBox="1"/>
          <p:nvPr/>
        </p:nvSpPr>
        <p:spPr>
          <a:xfrm>
            <a:off x="731520" y="2011680"/>
            <a:ext cx="1737360" cy="4023360"/>
          </a:xfrm>
          <a:prstGeom prst="rect">
            <a:avLst/>
          </a:prstGeom>
          <a:noFill/>
        </p:spPr>
        <p:txBody>
          <a:bodyPr wrap="square">
            <a:spAutoFit/>
          </a:bodyPr>
          <a:lstStyle/>
          <a:p>
            <a:pPr algn="l">
              <a:defRPr sz="1600" b="0">
                <a:solidFill>
                  <a:srgbClr val="E0E6ED"/>
                </a:solidFill>
                <a:latin typeface="Calibri"/>
              </a:defRPr>
            </a:pPr>
            <a:r>
              <a:t>Designed ReACT loop architecture</a:t>
            </a:r>
            <a:br/>
            <a:r>
              <a:t>Implemented agent core, context management</a:t>
            </a:r>
            <a:br/>
            <a:r>
              <a:t>State machine, iteration control</a:t>
            </a:r>
          </a:p>
        </p:txBody>
      </p:sp>
      <p:sp>
        <p:nvSpPr>
          <p:cNvPr id="8" name="Rectangle 7"/>
          <p:cNvSpPr/>
          <p:nvPr/>
        </p:nvSpPr>
        <p:spPr>
          <a:xfrm>
            <a:off x="2834640" y="1463040"/>
            <a:ext cx="2103120" cy="4754880"/>
          </a:xfrm>
          <a:prstGeom prst="rect">
            <a:avLst/>
          </a:prstGeom>
          <a:solidFill>
            <a:srgbClr val="1B3A5C"/>
          </a:solidFill>
          <a:ln>
            <a:solidFill>
              <a:srgbClr val="2C4A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600200"/>
            <a:ext cx="1737360" cy="457200"/>
          </a:xfrm>
          <a:prstGeom prst="rect">
            <a:avLst/>
          </a:prstGeom>
          <a:noFill/>
        </p:spPr>
        <p:txBody>
          <a:bodyPr wrap="square">
            <a:spAutoFit/>
          </a:bodyPr>
          <a:lstStyle/>
          <a:p>
            <a:pPr algn="l">
              <a:defRPr sz="2200" b="1">
                <a:solidFill>
                  <a:srgbClr val="27AE60"/>
                </a:solidFill>
                <a:latin typeface="Calibri"/>
              </a:defRPr>
            </a:pPr>
            <a:r>
              <a:t>Person 2</a:t>
            </a:r>
            <a:br/>
            <a:r>
              <a:t>Tool Engineer</a:t>
            </a:r>
          </a:p>
        </p:txBody>
      </p:sp>
      <p:sp>
        <p:nvSpPr>
          <p:cNvPr id="10" name="TextBox 9"/>
          <p:cNvSpPr txBox="1"/>
          <p:nvPr/>
        </p:nvSpPr>
        <p:spPr>
          <a:xfrm>
            <a:off x="3017520" y="2011680"/>
            <a:ext cx="1737360" cy="4023360"/>
          </a:xfrm>
          <a:prstGeom prst="rect">
            <a:avLst/>
          </a:prstGeom>
          <a:noFill/>
        </p:spPr>
        <p:txBody>
          <a:bodyPr wrap="square">
            <a:spAutoFit/>
          </a:bodyPr>
          <a:lstStyle/>
          <a:p>
            <a:pPr algn="l">
              <a:defRPr sz="1600" b="0">
                <a:solidFill>
                  <a:srgbClr val="E0E6ED"/>
                </a:solidFill>
                <a:latin typeface="Calibri"/>
              </a:defRPr>
            </a:pPr>
            <a:r>
              <a:t>Built 5+ analysis tools</a:t>
            </a:r>
            <a:br/>
            <a:r>
              <a:t>Code fetch, security audit, performance</a:t>
            </a:r>
            <a:br/>
            <a:r>
              <a:t>File structure analyzer, quality scorer</a:t>
            </a:r>
          </a:p>
        </p:txBody>
      </p:sp>
      <p:sp>
        <p:nvSpPr>
          <p:cNvPr id="11" name="Rectangle 10"/>
          <p:cNvSpPr/>
          <p:nvPr/>
        </p:nvSpPr>
        <p:spPr>
          <a:xfrm>
            <a:off x="5120640" y="1463040"/>
            <a:ext cx="2103120" cy="4754880"/>
          </a:xfrm>
          <a:prstGeom prst="rect">
            <a:avLst/>
          </a:prstGeom>
          <a:solidFill>
            <a:srgbClr val="1B3A5C"/>
          </a:solidFill>
          <a:ln>
            <a:solidFill>
              <a:srgbClr val="2C4A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0" y="1600200"/>
            <a:ext cx="1737360" cy="457200"/>
          </a:xfrm>
          <a:prstGeom prst="rect">
            <a:avLst/>
          </a:prstGeom>
          <a:noFill/>
        </p:spPr>
        <p:txBody>
          <a:bodyPr wrap="square">
            <a:spAutoFit/>
          </a:bodyPr>
          <a:lstStyle/>
          <a:p>
            <a:pPr algn="l">
              <a:defRPr sz="2200" b="1">
                <a:solidFill>
                  <a:srgbClr val="F39C12"/>
                </a:solidFill>
                <a:latin typeface="Calibri"/>
              </a:defRPr>
            </a:pPr>
            <a:r>
              <a:t>Person 3</a:t>
            </a:r>
            <a:br/>
            <a:r>
              <a:t>LLM Specialist</a:t>
            </a:r>
          </a:p>
        </p:txBody>
      </p:sp>
      <p:sp>
        <p:nvSpPr>
          <p:cNvPr id="13" name="TextBox 12"/>
          <p:cNvSpPr txBox="1"/>
          <p:nvPr/>
        </p:nvSpPr>
        <p:spPr>
          <a:xfrm>
            <a:off x="5303520" y="2011680"/>
            <a:ext cx="1737360" cy="4023360"/>
          </a:xfrm>
          <a:prstGeom prst="rect">
            <a:avLst/>
          </a:prstGeom>
          <a:noFill/>
        </p:spPr>
        <p:txBody>
          <a:bodyPr wrap="square">
            <a:spAutoFit/>
          </a:bodyPr>
          <a:lstStyle/>
          <a:p>
            <a:pPr algn="l">
              <a:defRPr sz="1600" b="0">
                <a:solidFill>
                  <a:srgbClr val="E0E6ED"/>
                </a:solidFill>
                <a:latin typeface="Calibri"/>
              </a:defRPr>
            </a:pPr>
            <a:r>
              <a:t>Gemini 2.0 Flash integration</a:t>
            </a:r>
            <a:br/>
            <a:r>
              <a:t>OpenAI provider implementation</a:t>
            </a:r>
            <a:br/>
            <a:r>
              <a:t>Prompt engineering, response parsing</a:t>
            </a:r>
          </a:p>
        </p:txBody>
      </p:sp>
      <p:sp>
        <p:nvSpPr>
          <p:cNvPr id="14" name="Rectangle 13"/>
          <p:cNvSpPr/>
          <p:nvPr/>
        </p:nvSpPr>
        <p:spPr>
          <a:xfrm>
            <a:off x="7406640" y="1463040"/>
            <a:ext cx="2103120" cy="4754880"/>
          </a:xfrm>
          <a:prstGeom prst="rect">
            <a:avLst/>
          </a:prstGeom>
          <a:solidFill>
            <a:srgbClr val="1B3A5C"/>
          </a:solidFill>
          <a:ln>
            <a:solidFill>
              <a:srgbClr val="2C4A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1600200"/>
            <a:ext cx="1737360" cy="457200"/>
          </a:xfrm>
          <a:prstGeom prst="rect">
            <a:avLst/>
          </a:prstGeom>
          <a:noFill/>
        </p:spPr>
        <p:txBody>
          <a:bodyPr wrap="square">
            <a:spAutoFit/>
          </a:bodyPr>
          <a:lstStyle/>
          <a:p>
            <a:pPr algn="l">
              <a:defRPr sz="2200" b="1">
                <a:solidFill>
                  <a:srgbClr val="E74C3C"/>
                </a:solidFill>
                <a:latin typeface="Calibri"/>
              </a:defRPr>
            </a:pPr>
            <a:r>
              <a:t>Person 4</a:t>
            </a:r>
            <a:br/>
            <a:r>
              <a:t>Backend Developer</a:t>
            </a:r>
          </a:p>
        </p:txBody>
      </p:sp>
      <p:sp>
        <p:nvSpPr>
          <p:cNvPr id="16" name="TextBox 15"/>
          <p:cNvSpPr txBox="1"/>
          <p:nvPr/>
        </p:nvSpPr>
        <p:spPr>
          <a:xfrm>
            <a:off x="7589520" y="2011680"/>
            <a:ext cx="1737360" cy="4023360"/>
          </a:xfrm>
          <a:prstGeom prst="rect">
            <a:avLst/>
          </a:prstGeom>
          <a:noFill/>
        </p:spPr>
        <p:txBody>
          <a:bodyPr wrap="square">
            <a:spAutoFit/>
          </a:bodyPr>
          <a:lstStyle/>
          <a:p>
            <a:pPr algn="l">
              <a:defRPr sz="1600" b="0">
                <a:solidFill>
                  <a:srgbClr val="E0E6ED"/>
                </a:solidFill>
                <a:latin typeface="Calibri"/>
              </a:defRPr>
            </a:pPr>
            <a:r>
              <a:t>FastAPI routes, dependencies</a:t>
            </a:r>
            <a:br/>
            <a:r>
              <a:t>Database models, SQLAlchemy</a:t>
            </a:r>
            <a:br/>
            <a:r>
              <a:t>Configuration, logging utilities</a:t>
            </a:r>
          </a:p>
        </p:txBody>
      </p:sp>
      <p:sp>
        <p:nvSpPr>
          <p:cNvPr id="17" name="Rectangle 16"/>
          <p:cNvSpPr/>
          <p:nvPr/>
        </p:nvSpPr>
        <p:spPr>
          <a:xfrm>
            <a:off x="9692640" y="1463040"/>
            <a:ext cx="2103120" cy="4754880"/>
          </a:xfrm>
          <a:prstGeom prst="rect">
            <a:avLst/>
          </a:prstGeom>
          <a:solidFill>
            <a:srgbClr val="1B3A5C"/>
          </a:solidFill>
          <a:ln>
            <a:solidFill>
              <a:srgbClr val="2C4A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1600200"/>
            <a:ext cx="1737360" cy="457200"/>
          </a:xfrm>
          <a:prstGeom prst="rect">
            <a:avLst/>
          </a:prstGeom>
          <a:noFill/>
        </p:spPr>
        <p:txBody>
          <a:bodyPr wrap="square">
            <a:spAutoFit/>
          </a:bodyPr>
          <a:lstStyle/>
          <a:p>
            <a:pPr algn="l">
              <a:defRPr sz="2200" b="1">
                <a:solidFill>
                  <a:srgbClr val="8E44AD"/>
                </a:solidFill>
                <a:latin typeface="Calibri"/>
              </a:defRPr>
            </a:pPr>
            <a:r>
              <a:t>Person 5</a:t>
            </a:r>
            <a:br/>
            <a:r>
              <a:t>Frontend Developer</a:t>
            </a:r>
          </a:p>
        </p:txBody>
      </p:sp>
      <p:sp>
        <p:nvSpPr>
          <p:cNvPr id="19" name="TextBox 18"/>
          <p:cNvSpPr txBox="1"/>
          <p:nvPr/>
        </p:nvSpPr>
        <p:spPr>
          <a:xfrm>
            <a:off x="9875520" y="2011680"/>
            <a:ext cx="1737360" cy="4023360"/>
          </a:xfrm>
          <a:prstGeom prst="rect">
            <a:avLst/>
          </a:prstGeom>
          <a:noFill/>
        </p:spPr>
        <p:txBody>
          <a:bodyPr wrap="square">
            <a:spAutoFit/>
          </a:bodyPr>
          <a:lstStyle/>
          <a:p>
            <a:pPr algn="l">
              <a:defRPr sz="1600" b="0">
                <a:solidFill>
                  <a:srgbClr val="E0E6ED"/>
                </a:solidFill>
                <a:latin typeface="Calibri"/>
              </a:defRPr>
            </a:pPr>
            <a:r>
              <a:t>Streamlit UI with 4 screens</a:t>
            </a:r>
            <a:br/>
            <a:r>
              <a:t>API client integration</a:t>
            </a:r>
            <a:br/>
            <a:r>
              <a:t>Progress tracking, history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Features Implemented</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Features Implemented</a:t>
            </a:r>
          </a:p>
        </p:txBody>
      </p:sp>
      <p:sp>
        <p:nvSpPr>
          <p:cNvPr id="7" name="Rectangle 6"/>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10972800" cy="5029200"/>
          </a:xfrm>
          <a:prstGeom prst="rect">
            <a:avLst/>
          </a:prstGeom>
          <a:noFill/>
        </p:spPr>
        <p:txBody>
          <a:bodyPr wrap="square">
            <a:spAutoFit/>
          </a:bodyPr>
          <a:lstStyle/>
          <a:p>
            <a:pPr>
              <a:spcAft>
                <a:spcPts val="1200"/>
              </a:spcAft>
              <a:defRPr sz="2000">
                <a:solidFill>
                  <a:srgbClr val="E0E6ED"/>
                </a:solidFill>
                <a:latin typeface="Calibri"/>
              </a:defRPr>
            </a:pPr>
            <a:r>
              <a:t>✅ ReACT Loop — Autonomous reasoning with Think → Act → Observe → Reflect cycle</a:t>
            </a:r>
          </a:p>
          <a:p>
            <a:pPr>
              <a:spcAft>
                <a:spcPts val="1200"/>
              </a:spcAft>
              <a:defRPr sz="2000">
                <a:solidFill>
                  <a:srgbClr val="E0E6ED"/>
                </a:solidFill>
                <a:latin typeface="Calibri"/>
              </a:defRPr>
            </a:pPr>
            <a:r>
              <a:t>✅ 5+ Code Analysis Tools — Fetch, structure analysis, security, performance, quality scoring</a:t>
            </a:r>
          </a:p>
          <a:p>
            <a:pPr>
              <a:spcAft>
                <a:spcPts val="1200"/>
              </a:spcAft>
              <a:defRPr sz="2000">
                <a:solidFill>
                  <a:srgbClr val="E0E6ED"/>
                </a:solidFill>
                <a:latin typeface="Calibri"/>
              </a:defRPr>
            </a:pPr>
            <a:r>
              <a:t>✅ LLM Decision Making — Gemini 2.0 Flash (primary) with OpenAI as alternative provider</a:t>
            </a:r>
          </a:p>
          <a:p>
            <a:pPr>
              <a:spcAft>
                <a:spcPts val="1200"/>
              </a:spcAft>
              <a:defRPr sz="2000">
                <a:solidFill>
                  <a:srgbClr val="E0E6ED"/>
                </a:solidFill>
                <a:latin typeface="Calibri"/>
              </a:defRPr>
            </a:pPr>
            <a:r>
              <a:t>✅ REST API + Web UI — FastAPI backend with auto-docs, Streamlit frontend with live feedback</a:t>
            </a:r>
          </a:p>
          <a:p>
            <a:pPr>
              <a:spcAft>
                <a:spcPts val="1200"/>
              </a:spcAft>
              <a:defRPr sz="2000">
                <a:solidFill>
                  <a:srgbClr val="E0E6ED"/>
                </a:solidFill>
                <a:latin typeface="Calibri"/>
              </a:defRPr>
            </a:pPr>
            <a:r>
              <a:t>✅ Database + Testing — SQLite persistence, 257 tests, 85%+ coverage, 85/100 audit score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Technology Stack</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2651760" cy="475488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2377440" cy="365760"/>
          </a:xfrm>
          <a:prstGeom prst="rect">
            <a:avLst/>
          </a:prstGeom>
          <a:noFill/>
        </p:spPr>
        <p:txBody>
          <a:bodyPr wrap="square">
            <a:spAutoFit/>
          </a:bodyPr>
          <a:lstStyle/>
          <a:p>
            <a:pPr algn="l">
              <a:defRPr sz="2200" b="1">
                <a:solidFill>
                  <a:srgbClr val="27AE60"/>
                </a:solidFill>
                <a:latin typeface="Calibri"/>
              </a:defRPr>
            </a:pPr>
            <a:r>
              <a:t>Backend</a:t>
            </a:r>
          </a:p>
        </p:txBody>
      </p:sp>
      <p:sp>
        <p:nvSpPr>
          <p:cNvPr id="7" name="TextBox 6"/>
          <p:cNvSpPr txBox="1"/>
          <p:nvPr/>
        </p:nvSpPr>
        <p:spPr>
          <a:xfrm>
            <a:off x="685800" y="2103120"/>
            <a:ext cx="2377440" cy="457200"/>
          </a:xfrm>
          <a:prstGeom prst="rect">
            <a:avLst/>
          </a:prstGeom>
          <a:noFill/>
        </p:spPr>
        <p:txBody>
          <a:bodyPr wrap="square">
            <a:spAutoFit/>
          </a:bodyPr>
          <a:lstStyle/>
          <a:p>
            <a:pPr algn="l">
              <a:defRPr sz="1400" b="0">
                <a:solidFill>
                  <a:srgbClr val="E0E6ED"/>
                </a:solidFill>
                <a:latin typeface="Calibri"/>
              </a:defRPr>
            </a:pPr>
            <a:r>
              <a:t>▸ Python 3.10+ — Core language</a:t>
            </a:r>
          </a:p>
        </p:txBody>
      </p:sp>
      <p:sp>
        <p:nvSpPr>
          <p:cNvPr id="8" name="TextBox 7"/>
          <p:cNvSpPr txBox="1"/>
          <p:nvPr/>
        </p:nvSpPr>
        <p:spPr>
          <a:xfrm>
            <a:off x="685800" y="2560320"/>
            <a:ext cx="2377440" cy="457200"/>
          </a:xfrm>
          <a:prstGeom prst="rect">
            <a:avLst/>
          </a:prstGeom>
          <a:noFill/>
        </p:spPr>
        <p:txBody>
          <a:bodyPr wrap="square">
            <a:spAutoFit/>
          </a:bodyPr>
          <a:lstStyle/>
          <a:p>
            <a:pPr algn="l">
              <a:defRPr sz="1400" b="0">
                <a:solidFill>
                  <a:srgbClr val="E0E6ED"/>
                </a:solidFill>
                <a:latin typeface="Calibri"/>
              </a:defRPr>
            </a:pPr>
            <a:r>
              <a:t>▸ FastAPI — REST API framework</a:t>
            </a:r>
          </a:p>
        </p:txBody>
      </p:sp>
      <p:sp>
        <p:nvSpPr>
          <p:cNvPr id="9" name="TextBox 8"/>
          <p:cNvSpPr txBox="1"/>
          <p:nvPr/>
        </p:nvSpPr>
        <p:spPr>
          <a:xfrm>
            <a:off x="685800" y="3017520"/>
            <a:ext cx="2377440" cy="457200"/>
          </a:xfrm>
          <a:prstGeom prst="rect">
            <a:avLst/>
          </a:prstGeom>
          <a:noFill/>
        </p:spPr>
        <p:txBody>
          <a:bodyPr wrap="square">
            <a:spAutoFit/>
          </a:bodyPr>
          <a:lstStyle/>
          <a:p>
            <a:pPr algn="l">
              <a:defRPr sz="1400" b="0">
                <a:solidFill>
                  <a:srgbClr val="E0E6ED"/>
                </a:solidFill>
                <a:latin typeface="Calibri"/>
              </a:defRPr>
            </a:pPr>
            <a:r>
              <a:t>▸ SQLAlchemy — ORM with SQLite</a:t>
            </a:r>
          </a:p>
        </p:txBody>
      </p:sp>
      <p:sp>
        <p:nvSpPr>
          <p:cNvPr id="10" name="TextBox 9"/>
          <p:cNvSpPr txBox="1"/>
          <p:nvPr/>
        </p:nvSpPr>
        <p:spPr>
          <a:xfrm>
            <a:off x="685800" y="3474720"/>
            <a:ext cx="2377440" cy="457200"/>
          </a:xfrm>
          <a:prstGeom prst="rect">
            <a:avLst/>
          </a:prstGeom>
          <a:noFill/>
        </p:spPr>
        <p:txBody>
          <a:bodyPr wrap="square">
            <a:spAutoFit/>
          </a:bodyPr>
          <a:lstStyle/>
          <a:p>
            <a:pPr algn="l">
              <a:defRPr sz="1400" b="0">
                <a:solidFill>
                  <a:srgbClr val="E0E6ED"/>
                </a:solidFill>
                <a:latin typeface="Calibri"/>
              </a:defRPr>
            </a:pPr>
            <a:r>
              <a:t>▸ Uvicorn — ASGI server</a:t>
            </a:r>
          </a:p>
        </p:txBody>
      </p:sp>
      <p:sp>
        <p:nvSpPr>
          <p:cNvPr id="11" name="Rectangle 10"/>
          <p:cNvSpPr/>
          <p:nvPr/>
        </p:nvSpPr>
        <p:spPr>
          <a:xfrm>
            <a:off x="3429000" y="1463040"/>
            <a:ext cx="2651760" cy="475488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554480"/>
            <a:ext cx="2377440" cy="365760"/>
          </a:xfrm>
          <a:prstGeom prst="rect">
            <a:avLst/>
          </a:prstGeom>
          <a:noFill/>
        </p:spPr>
        <p:txBody>
          <a:bodyPr wrap="square">
            <a:spAutoFit/>
          </a:bodyPr>
          <a:lstStyle/>
          <a:p>
            <a:pPr algn="l">
              <a:defRPr sz="2200" b="1">
                <a:solidFill>
                  <a:srgbClr val="2E86C1"/>
                </a:solidFill>
                <a:latin typeface="Calibri"/>
              </a:defRPr>
            </a:pPr>
            <a:r>
              <a:t>Frontend</a:t>
            </a:r>
          </a:p>
        </p:txBody>
      </p:sp>
      <p:sp>
        <p:nvSpPr>
          <p:cNvPr id="13" name="TextBox 12"/>
          <p:cNvSpPr txBox="1"/>
          <p:nvPr/>
        </p:nvSpPr>
        <p:spPr>
          <a:xfrm>
            <a:off x="3566160" y="2103120"/>
            <a:ext cx="2377440" cy="457200"/>
          </a:xfrm>
          <a:prstGeom prst="rect">
            <a:avLst/>
          </a:prstGeom>
          <a:noFill/>
        </p:spPr>
        <p:txBody>
          <a:bodyPr wrap="square">
            <a:spAutoFit/>
          </a:bodyPr>
          <a:lstStyle/>
          <a:p>
            <a:pPr algn="l">
              <a:defRPr sz="1400" b="0">
                <a:solidFill>
                  <a:srgbClr val="E0E6ED"/>
                </a:solidFill>
                <a:latin typeface="Calibri"/>
              </a:defRPr>
            </a:pPr>
            <a:r>
              <a:t>▸ Streamlit — Web UI framework</a:t>
            </a:r>
          </a:p>
        </p:txBody>
      </p:sp>
      <p:sp>
        <p:nvSpPr>
          <p:cNvPr id="14" name="TextBox 13"/>
          <p:cNvSpPr txBox="1"/>
          <p:nvPr/>
        </p:nvSpPr>
        <p:spPr>
          <a:xfrm>
            <a:off x="3566160" y="2560320"/>
            <a:ext cx="2377440" cy="457200"/>
          </a:xfrm>
          <a:prstGeom prst="rect">
            <a:avLst/>
          </a:prstGeom>
          <a:noFill/>
        </p:spPr>
        <p:txBody>
          <a:bodyPr wrap="square">
            <a:spAutoFit/>
          </a:bodyPr>
          <a:lstStyle/>
          <a:p>
            <a:pPr algn="l">
              <a:defRPr sz="1400" b="0">
                <a:solidFill>
                  <a:srgbClr val="E0E6ED"/>
                </a:solidFill>
                <a:latin typeface="Calibri"/>
              </a:defRPr>
            </a:pPr>
            <a:r>
              <a:t>▸ Requests — API client library</a:t>
            </a:r>
          </a:p>
        </p:txBody>
      </p:sp>
      <p:sp>
        <p:nvSpPr>
          <p:cNvPr id="15" name="TextBox 14"/>
          <p:cNvSpPr txBox="1"/>
          <p:nvPr/>
        </p:nvSpPr>
        <p:spPr>
          <a:xfrm>
            <a:off x="3566160" y="3017520"/>
            <a:ext cx="2377440" cy="457200"/>
          </a:xfrm>
          <a:prstGeom prst="rect">
            <a:avLst/>
          </a:prstGeom>
          <a:noFill/>
        </p:spPr>
        <p:txBody>
          <a:bodyPr wrap="square">
            <a:spAutoFit/>
          </a:bodyPr>
          <a:lstStyle/>
          <a:p>
            <a:pPr algn="l">
              <a:defRPr sz="1400" b="0">
                <a:solidFill>
                  <a:srgbClr val="E0E6ED"/>
                </a:solidFill>
                <a:latin typeface="Calibri"/>
              </a:defRPr>
            </a:pPr>
            <a:r>
              <a:t>▸ Markdown — Rich text rendering</a:t>
            </a:r>
          </a:p>
        </p:txBody>
      </p:sp>
      <p:sp>
        <p:nvSpPr>
          <p:cNvPr id="16" name="Rectangle 15"/>
          <p:cNvSpPr/>
          <p:nvPr/>
        </p:nvSpPr>
        <p:spPr>
          <a:xfrm>
            <a:off x="6309359" y="1463040"/>
            <a:ext cx="2651760" cy="475488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19" y="1554480"/>
            <a:ext cx="2377440" cy="365760"/>
          </a:xfrm>
          <a:prstGeom prst="rect">
            <a:avLst/>
          </a:prstGeom>
          <a:noFill/>
        </p:spPr>
        <p:txBody>
          <a:bodyPr wrap="square">
            <a:spAutoFit/>
          </a:bodyPr>
          <a:lstStyle/>
          <a:p>
            <a:pPr algn="l">
              <a:defRPr sz="2200" b="1">
                <a:solidFill>
                  <a:srgbClr val="F39C12"/>
                </a:solidFill>
                <a:latin typeface="Calibri"/>
              </a:defRPr>
            </a:pPr>
            <a:r>
              <a:t>AI / LLM</a:t>
            </a:r>
          </a:p>
        </p:txBody>
      </p:sp>
      <p:sp>
        <p:nvSpPr>
          <p:cNvPr id="18" name="TextBox 17"/>
          <p:cNvSpPr txBox="1"/>
          <p:nvPr/>
        </p:nvSpPr>
        <p:spPr>
          <a:xfrm>
            <a:off x="6446519" y="2103120"/>
            <a:ext cx="2377440" cy="457200"/>
          </a:xfrm>
          <a:prstGeom prst="rect">
            <a:avLst/>
          </a:prstGeom>
          <a:noFill/>
        </p:spPr>
        <p:txBody>
          <a:bodyPr wrap="square">
            <a:spAutoFit/>
          </a:bodyPr>
          <a:lstStyle/>
          <a:p>
            <a:pPr algn="l">
              <a:defRPr sz="1400" b="0">
                <a:solidFill>
                  <a:srgbClr val="E0E6ED"/>
                </a:solidFill>
                <a:latin typeface="Calibri"/>
              </a:defRPr>
            </a:pPr>
            <a:r>
              <a:t>▸ Gemini 2.0 Flash — Primary LLM</a:t>
            </a:r>
          </a:p>
        </p:txBody>
      </p:sp>
      <p:sp>
        <p:nvSpPr>
          <p:cNvPr id="19" name="TextBox 18"/>
          <p:cNvSpPr txBox="1"/>
          <p:nvPr/>
        </p:nvSpPr>
        <p:spPr>
          <a:xfrm>
            <a:off x="6446519" y="2560320"/>
            <a:ext cx="2377440" cy="457200"/>
          </a:xfrm>
          <a:prstGeom prst="rect">
            <a:avLst/>
          </a:prstGeom>
          <a:noFill/>
        </p:spPr>
        <p:txBody>
          <a:bodyPr wrap="square">
            <a:spAutoFit/>
          </a:bodyPr>
          <a:lstStyle/>
          <a:p>
            <a:pPr algn="l">
              <a:defRPr sz="1400" b="0">
                <a:solidFill>
                  <a:srgbClr val="E0E6ED"/>
                </a:solidFill>
                <a:latin typeface="Calibri"/>
              </a:defRPr>
            </a:pPr>
            <a:r>
              <a:t>▸ OpenAI GPT-4o-mini — Alternative</a:t>
            </a:r>
          </a:p>
        </p:txBody>
      </p:sp>
      <p:sp>
        <p:nvSpPr>
          <p:cNvPr id="20" name="TextBox 19"/>
          <p:cNvSpPr txBox="1"/>
          <p:nvPr/>
        </p:nvSpPr>
        <p:spPr>
          <a:xfrm>
            <a:off x="6446519" y="3017520"/>
            <a:ext cx="2377440" cy="457200"/>
          </a:xfrm>
          <a:prstGeom prst="rect">
            <a:avLst/>
          </a:prstGeom>
          <a:noFill/>
        </p:spPr>
        <p:txBody>
          <a:bodyPr wrap="square">
            <a:spAutoFit/>
          </a:bodyPr>
          <a:lstStyle/>
          <a:p>
            <a:pPr algn="l">
              <a:defRPr sz="1400" b="0">
                <a:solidFill>
                  <a:srgbClr val="E0E6ED"/>
                </a:solidFill>
                <a:latin typeface="Calibri"/>
              </a:defRPr>
            </a:pPr>
            <a:r>
              <a:t>▸ Google Generative AI SDK</a:t>
            </a:r>
          </a:p>
        </p:txBody>
      </p:sp>
      <p:sp>
        <p:nvSpPr>
          <p:cNvPr id="21" name="TextBox 20"/>
          <p:cNvSpPr txBox="1"/>
          <p:nvPr/>
        </p:nvSpPr>
        <p:spPr>
          <a:xfrm>
            <a:off x="6446519" y="3474720"/>
            <a:ext cx="2377440" cy="457200"/>
          </a:xfrm>
          <a:prstGeom prst="rect">
            <a:avLst/>
          </a:prstGeom>
          <a:noFill/>
        </p:spPr>
        <p:txBody>
          <a:bodyPr wrap="square">
            <a:spAutoFit/>
          </a:bodyPr>
          <a:lstStyle/>
          <a:p>
            <a:pPr algn="l">
              <a:defRPr sz="1400" b="0">
                <a:solidFill>
                  <a:srgbClr val="E0E6ED"/>
                </a:solidFill>
                <a:latin typeface="Calibri"/>
              </a:defRPr>
            </a:pPr>
            <a:r>
              <a:t>▸ Custom prompt engineering</a:t>
            </a:r>
          </a:p>
        </p:txBody>
      </p:sp>
      <p:sp>
        <p:nvSpPr>
          <p:cNvPr id="22" name="Rectangle 21"/>
          <p:cNvSpPr/>
          <p:nvPr/>
        </p:nvSpPr>
        <p:spPr>
          <a:xfrm>
            <a:off x="9189719" y="1463040"/>
            <a:ext cx="2651760" cy="475488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79" y="1554480"/>
            <a:ext cx="2377440" cy="365760"/>
          </a:xfrm>
          <a:prstGeom prst="rect">
            <a:avLst/>
          </a:prstGeom>
          <a:noFill/>
        </p:spPr>
        <p:txBody>
          <a:bodyPr wrap="square">
            <a:spAutoFit/>
          </a:bodyPr>
          <a:lstStyle/>
          <a:p>
            <a:pPr algn="l">
              <a:defRPr sz="2200" b="1">
                <a:solidFill>
                  <a:srgbClr val="E74C3C"/>
                </a:solidFill>
                <a:latin typeface="Calibri"/>
              </a:defRPr>
            </a:pPr>
            <a:r>
              <a:t>Testing &amp; Quality</a:t>
            </a:r>
          </a:p>
        </p:txBody>
      </p:sp>
      <p:sp>
        <p:nvSpPr>
          <p:cNvPr id="24" name="TextBox 23"/>
          <p:cNvSpPr txBox="1"/>
          <p:nvPr/>
        </p:nvSpPr>
        <p:spPr>
          <a:xfrm>
            <a:off x="9326879" y="2103120"/>
            <a:ext cx="2377440" cy="457200"/>
          </a:xfrm>
          <a:prstGeom prst="rect">
            <a:avLst/>
          </a:prstGeom>
          <a:noFill/>
        </p:spPr>
        <p:txBody>
          <a:bodyPr wrap="square">
            <a:spAutoFit/>
          </a:bodyPr>
          <a:lstStyle/>
          <a:p>
            <a:pPr algn="l">
              <a:defRPr sz="1400" b="0">
                <a:solidFill>
                  <a:srgbClr val="E0E6ED"/>
                </a:solidFill>
                <a:latin typeface="Calibri"/>
              </a:defRPr>
            </a:pPr>
            <a:r>
              <a:t>▸ Pytest — Test framework</a:t>
            </a:r>
          </a:p>
        </p:txBody>
      </p:sp>
      <p:sp>
        <p:nvSpPr>
          <p:cNvPr id="25" name="TextBox 24"/>
          <p:cNvSpPr txBox="1"/>
          <p:nvPr/>
        </p:nvSpPr>
        <p:spPr>
          <a:xfrm>
            <a:off x="9326879" y="2560320"/>
            <a:ext cx="2377440" cy="457200"/>
          </a:xfrm>
          <a:prstGeom prst="rect">
            <a:avLst/>
          </a:prstGeom>
          <a:noFill/>
        </p:spPr>
        <p:txBody>
          <a:bodyPr wrap="square">
            <a:spAutoFit/>
          </a:bodyPr>
          <a:lstStyle/>
          <a:p>
            <a:pPr algn="l">
              <a:defRPr sz="1400" b="0">
                <a:solidFill>
                  <a:srgbClr val="E0E6ED"/>
                </a:solidFill>
                <a:latin typeface="Calibri"/>
              </a:defRPr>
            </a:pPr>
            <a:r>
              <a:t>▸ pytest-asyncio — Async tests</a:t>
            </a:r>
          </a:p>
        </p:txBody>
      </p:sp>
      <p:sp>
        <p:nvSpPr>
          <p:cNvPr id="26" name="TextBox 25"/>
          <p:cNvSpPr txBox="1"/>
          <p:nvPr/>
        </p:nvSpPr>
        <p:spPr>
          <a:xfrm>
            <a:off x="9326879" y="3017520"/>
            <a:ext cx="2377440" cy="457200"/>
          </a:xfrm>
          <a:prstGeom prst="rect">
            <a:avLst/>
          </a:prstGeom>
          <a:noFill/>
        </p:spPr>
        <p:txBody>
          <a:bodyPr wrap="square">
            <a:spAutoFit/>
          </a:bodyPr>
          <a:lstStyle/>
          <a:p>
            <a:pPr algn="l">
              <a:defRPr sz="1400" b="0">
                <a:solidFill>
                  <a:srgbClr val="E0E6ED"/>
                </a:solidFill>
                <a:latin typeface="Calibri"/>
              </a:defRPr>
            </a:pPr>
            <a:r>
              <a:t>▸ pytest-cov — Coverage reports</a:t>
            </a:r>
          </a:p>
        </p:txBody>
      </p:sp>
      <p:sp>
        <p:nvSpPr>
          <p:cNvPr id="27" name="TextBox 26"/>
          <p:cNvSpPr txBox="1"/>
          <p:nvPr/>
        </p:nvSpPr>
        <p:spPr>
          <a:xfrm>
            <a:off x="9326879" y="3474720"/>
            <a:ext cx="2377440" cy="457200"/>
          </a:xfrm>
          <a:prstGeom prst="rect">
            <a:avLst/>
          </a:prstGeom>
          <a:noFill/>
        </p:spPr>
        <p:txBody>
          <a:bodyPr wrap="square">
            <a:spAutoFit/>
          </a:bodyPr>
          <a:lstStyle/>
          <a:p>
            <a:pPr algn="l">
              <a:defRPr sz="1400" b="0">
                <a:solidFill>
                  <a:srgbClr val="E0E6ED"/>
                </a:solidFill>
                <a:latin typeface="Calibri"/>
              </a:defRPr>
            </a:pPr>
            <a:r>
              <a:t>▸ Ruff — Linter &amp; formatter</a:t>
            </a:r>
          </a:p>
        </p:txBody>
      </p:sp>
      <p:sp>
        <p:nvSpPr>
          <p:cNvPr id="28" name="TextBox 27"/>
          <p:cNvSpPr txBox="1"/>
          <p:nvPr/>
        </p:nvSpPr>
        <p:spPr>
          <a:xfrm>
            <a:off x="9326879" y="3931920"/>
            <a:ext cx="2377440" cy="457200"/>
          </a:xfrm>
          <a:prstGeom prst="rect">
            <a:avLst/>
          </a:prstGeom>
          <a:noFill/>
        </p:spPr>
        <p:txBody>
          <a:bodyPr wrap="square">
            <a:spAutoFit/>
          </a:bodyPr>
          <a:lstStyle/>
          <a:p>
            <a:pPr algn="l">
              <a:defRPr sz="1400" b="0">
                <a:solidFill>
                  <a:srgbClr val="E0E6ED"/>
                </a:solidFill>
                <a:latin typeface="Calibri"/>
              </a:defRPr>
            </a:pPr>
            <a:r>
              <a:t>▸ MyPy — Type checking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Project Statistics</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338328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37360"/>
            <a:ext cx="3017520" cy="914400"/>
          </a:xfrm>
          <a:prstGeom prst="rect">
            <a:avLst/>
          </a:prstGeom>
          <a:noFill/>
        </p:spPr>
        <p:txBody>
          <a:bodyPr wrap="square">
            <a:spAutoFit/>
          </a:bodyPr>
          <a:lstStyle/>
          <a:p>
            <a:pPr algn="ctr">
              <a:defRPr sz="4400" b="1">
                <a:solidFill>
                  <a:srgbClr val="27AE60"/>
                </a:solidFill>
                <a:latin typeface="Calibri"/>
              </a:defRPr>
            </a:pPr>
            <a:r>
              <a:t>6,000+</a:t>
            </a:r>
          </a:p>
        </p:txBody>
      </p:sp>
      <p:sp>
        <p:nvSpPr>
          <p:cNvPr id="7" name="TextBox 6"/>
          <p:cNvSpPr txBox="1"/>
          <p:nvPr/>
        </p:nvSpPr>
        <p:spPr>
          <a:xfrm>
            <a:off x="731520" y="2743200"/>
            <a:ext cx="3017520" cy="457200"/>
          </a:xfrm>
          <a:prstGeom prst="rect">
            <a:avLst/>
          </a:prstGeom>
          <a:noFill/>
        </p:spPr>
        <p:txBody>
          <a:bodyPr wrap="square">
            <a:spAutoFit/>
          </a:bodyPr>
          <a:lstStyle/>
          <a:p>
            <a:pPr algn="ctr">
              <a:defRPr sz="1800" b="0">
                <a:solidFill>
                  <a:srgbClr val="E0E6ED"/>
                </a:solidFill>
                <a:latin typeface="Calibri"/>
              </a:defRPr>
            </a:pPr>
            <a:r>
              <a:t>Lines of Code</a:t>
            </a:r>
          </a:p>
        </p:txBody>
      </p:sp>
      <p:sp>
        <p:nvSpPr>
          <p:cNvPr id="8" name="Rectangle 7"/>
          <p:cNvSpPr/>
          <p:nvPr/>
        </p:nvSpPr>
        <p:spPr>
          <a:xfrm>
            <a:off x="4297679" y="1463040"/>
            <a:ext cx="338328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737360"/>
            <a:ext cx="3017520" cy="914400"/>
          </a:xfrm>
          <a:prstGeom prst="rect">
            <a:avLst/>
          </a:prstGeom>
          <a:noFill/>
        </p:spPr>
        <p:txBody>
          <a:bodyPr wrap="square">
            <a:spAutoFit/>
          </a:bodyPr>
          <a:lstStyle/>
          <a:p>
            <a:pPr algn="ctr">
              <a:defRPr sz="4400" b="1">
                <a:solidFill>
                  <a:srgbClr val="2E86C1"/>
                </a:solidFill>
                <a:latin typeface="Calibri"/>
              </a:defRPr>
            </a:pPr>
            <a:r>
              <a:t>27</a:t>
            </a:r>
          </a:p>
        </p:txBody>
      </p:sp>
      <p:sp>
        <p:nvSpPr>
          <p:cNvPr id="10" name="TextBox 9"/>
          <p:cNvSpPr txBox="1"/>
          <p:nvPr/>
        </p:nvSpPr>
        <p:spPr>
          <a:xfrm>
            <a:off x="4480559" y="2743200"/>
            <a:ext cx="3017520" cy="457200"/>
          </a:xfrm>
          <a:prstGeom prst="rect">
            <a:avLst/>
          </a:prstGeom>
          <a:noFill/>
        </p:spPr>
        <p:txBody>
          <a:bodyPr wrap="square">
            <a:spAutoFit/>
          </a:bodyPr>
          <a:lstStyle/>
          <a:p>
            <a:pPr algn="ctr">
              <a:defRPr sz="1800" b="0">
                <a:solidFill>
                  <a:srgbClr val="E0E6ED"/>
                </a:solidFill>
                <a:latin typeface="Calibri"/>
              </a:defRPr>
            </a:pPr>
            <a:r>
              <a:t>Source Files</a:t>
            </a:r>
          </a:p>
        </p:txBody>
      </p:sp>
      <p:sp>
        <p:nvSpPr>
          <p:cNvPr id="11" name="Rectangle 10"/>
          <p:cNvSpPr/>
          <p:nvPr/>
        </p:nvSpPr>
        <p:spPr>
          <a:xfrm>
            <a:off x="8046719" y="1463040"/>
            <a:ext cx="338328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9" y="1737360"/>
            <a:ext cx="3017520" cy="914400"/>
          </a:xfrm>
          <a:prstGeom prst="rect">
            <a:avLst/>
          </a:prstGeom>
          <a:noFill/>
        </p:spPr>
        <p:txBody>
          <a:bodyPr wrap="square">
            <a:spAutoFit/>
          </a:bodyPr>
          <a:lstStyle/>
          <a:p>
            <a:pPr algn="ctr">
              <a:defRPr sz="4400" b="1">
                <a:solidFill>
                  <a:srgbClr val="F39C12"/>
                </a:solidFill>
                <a:latin typeface="Calibri"/>
              </a:defRPr>
            </a:pPr>
            <a:r>
              <a:t>257</a:t>
            </a:r>
          </a:p>
        </p:txBody>
      </p:sp>
      <p:sp>
        <p:nvSpPr>
          <p:cNvPr id="13" name="TextBox 12"/>
          <p:cNvSpPr txBox="1"/>
          <p:nvPr/>
        </p:nvSpPr>
        <p:spPr>
          <a:xfrm>
            <a:off x="8229599" y="2743200"/>
            <a:ext cx="3017520" cy="457200"/>
          </a:xfrm>
          <a:prstGeom prst="rect">
            <a:avLst/>
          </a:prstGeom>
          <a:noFill/>
        </p:spPr>
        <p:txBody>
          <a:bodyPr wrap="square">
            <a:spAutoFit/>
          </a:bodyPr>
          <a:lstStyle/>
          <a:p>
            <a:pPr algn="ctr">
              <a:defRPr sz="1800" b="0">
                <a:solidFill>
                  <a:srgbClr val="E0E6ED"/>
                </a:solidFill>
                <a:latin typeface="Calibri"/>
              </a:defRPr>
            </a:pPr>
            <a:r>
              <a:t>Tests Passing</a:t>
            </a:r>
          </a:p>
        </p:txBody>
      </p:sp>
      <p:sp>
        <p:nvSpPr>
          <p:cNvPr id="14" name="Rectangle 13"/>
          <p:cNvSpPr/>
          <p:nvPr/>
        </p:nvSpPr>
        <p:spPr>
          <a:xfrm>
            <a:off x="548640" y="4023360"/>
            <a:ext cx="338328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297680"/>
            <a:ext cx="3017520" cy="914400"/>
          </a:xfrm>
          <a:prstGeom prst="rect">
            <a:avLst/>
          </a:prstGeom>
          <a:noFill/>
        </p:spPr>
        <p:txBody>
          <a:bodyPr wrap="square">
            <a:spAutoFit/>
          </a:bodyPr>
          <a:lstStyle/>
          <a:p>
            <a:pPr algn="ctr">
              <a:defRPr sz="4400" b="1">
                <a:solidFill>
                  <a:srgbClr val="E74C3C"/>
                </a:solidFill>
                <a:latin typeface="Calibri"/>
              </a:defRPr>
            </a:pPr>
            <a:r>
              <a:t>85+%</a:t>
            </a:r>
          </a:p>
        </p:txBody>
      </p:sp>
      <p:sp>
        <p:nvSpPr>
          <p:cNvPr id="16" name="TextBox 15"/>
          <p:cNvSpPr txBox="1"/>
          <p:nvPr/>
        </p:nvSpPr>
        <p:spPr>
          <a:xfrm>
            <a:off x="731520" y="5303520"/>
            <a:ext cx="3017520" cy="457200"/>
          </a:xfrm>
          <a:prstGeom prst="rect">
            <a:avLst/>
          </a:prstGeom>
          <a:noFill/>
        </p:spPr>
        <p:txBody>
          <a:bodyPr wrap="square">
            <a:spAutoFit/>
          </a:bodyPr>
          <a:lstStyle/>
          <a:p>
            <a:pPr algn="ctr">
              <a:defRPr sz="1800" b="0">
                <a:solidFill>
                  <a:srgbClr val="E0E6ED"/>
                </a:solidFill>
                <a:latin typeface="Calibri"/>
              </a:defRPr>
            </a:pPr>
            <a:r>
              <a:t>Code Coverage</a:t>
            </a:r>
          </a:p>
        </p:txBody>
      </p:sp>
      <p:sp>
        <p:nvSpPr>
          <p:cNvPr id="17" name="Rectangle 16"/>
          <p:cNvSpPr/>
          <p:nvPr/>
        </p:nvSpPr>
        <p:spPr>
          <a:xfrm>
            <a:off x="4297679" y="4023360"/>
            <a:ext cx="338328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4297680"/>
            <a:ext cx="3017520" cy="914400"/>
          </a:xfrm>
          <a:prstGeom prst="rect">
            <a:avLst/>
          </a:prstGeom>
          <a:noFill/>
        </p:spPr>
        <p:txBody>
          <a:bodyPr wrap="square">
            <a:spAutoFit/>
          </a:bodyPr>
          <a:lstStyle/>
          <a:p>
            <a:pPr algn="ctr">
              <a:defRPr sz="4400" b="1">
                <a:solidFill>
                  <a:srgbClr val="8E44AD"/>
                </a:solidFill>
                <a:latin typeface="Calibri"/>
              </a:defRPr>
            </a:pPr>
            <a:r>
              <a:t>85/100</a:t>
            </a:r>
          </a:p>
        </p:txBody>
      </p:sp>
      <p:sp>
        <p:nvSpPr>
          <p:cNvPr id="19" name="TextBox 18"/>
          <p:cNvSpPr txBox="1"/>
          <p:nvPr/>
        </p:nvSpPr>
        <p:spPr>
          <a:xfrm>
            <a:off x="4480559" y="5303520"/>
            <a:ext cx="3017520" cy="457200"/>
          </a:xfrm>
          <a:prstGeom prst="rect">
            <a:avLst/>
          </a:prstGeom>
          <a:noFill/>
        </p:spPr>
        <p:txBody>
          <a:bodyPr wrap="square">
            <a:spAutoFit/>
          </a:bodyPr>
          <a:lstStyle/>
          <a:p>
            <a:pPr algn="ctr">
              <a:defRPr sz="1800" b="0">
                <a:solidFill>
                  <a:srgbClr val="E0E6ED"/>
                </a:solidFill>
                <a:latin typeface="Calibri"/>
              </a:defRPr>
            </a:pPr>
            <a:r>
              <a:t>Audit Score</a:t>
            </a:r>
          </a:p>
        </p:txBody>
      </p:sp>
      <p:sp>
        <p:nvSpPr>
          <p:cNvPr id="20" name="Rectangle 19"/>
          <p:cNvSpPr/>
          <p:nvPr/>
        </p:nvSpPr>
        <p:spPr>
          <a:xfrm>
            <a:off x="8046719" y="4023360"/>
            <a:ext cx="3383280" cy="210312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4297680"/>
            <a:ext cx="3017520" cy="914400"/>
          </a:xfrm>
          <a:prstGeom prst="rect">
            <a:avLst/>
          </a:prstGeom>
          <a:noFill/>
        </p:spPr>
        <p:txBody>
          <a:bodyPr wrap="square">
            <a:spAutoFit/>
          </a:bodyPr>
          <a:lstStyle/>
          <a:p>
            <a:pPr algn="ctr">
              <a:defRPr sz="4400" b="1">
                <a:solidFill>
                  <a:srgbClr val="27AE60"/>
                </a:solidFill>
                <a:latin typeface="Calibri"/>
              </a:defRPr>
            </a:pPr>
            <a:r>
              <a:t>2 Weeks</a:t>
            </a:r>
          </a:p>
        </p:txBody>
      </p:sp>
      <p:sp>
        <p:nvSpPr>
          <p:cNvPr id="22" name="TextBox 21"/>
          <p:cNvSpPr txBox="1"/>
          <p:nvPr/>
        </p:nvSpPr>
        <p:spPr>
          <a:xfrm>
            <a:off x="8229599" y="5303520"/>
            <a:ext cx="3017520" cy="457200"/>
          </a:xfrm>
          <a:prstGeom prst="rect">
            <a:avLst/>
          </a:prstGeom>
          <a:noFill/>
        </p:spPr>
        <p:txBody>
          <a:bodyPr wrap="square">
            <a:spAutoFit/>
          </a:bodyPr>
          <a:lstStyle/>
          <a:p>
            <a:pPr algn="ctr">
              <a:defRPr sz="1800" b="0">
                <a:solidFill>
                  <a:srgbClr val="E0E6ED"/>
                </a:solidFill>
                <a:latin typeface="Calibri"/>
              </a:defRPr>
            </a:pPr>
            <a:r>
              <a:t>Development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How It Works — Demo Flow</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1691640"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600200" cy="457200"/>
          </a:xfrm>
          <a:prstGeom prst="rect">
            <a:avLst/>
          </a:prstGeom>
          <a:noFill/>
        </p:spPr>
        <p:txBody>
          <a:bodyPr wrap="square">
            <a:spAutoFit/>
          </a:bodyPr>
          <a:lstStyle/>
          <a:p>
            <a:pPr algn="ctr">
              <a:defRPr sz="1600" b="1">
                <a:solidFill>
                  <a:srgbClr val="FFFFFF"/>
                </a:solidFill>
                <a:latin typeface="Calibri"/>
              </a:defRPr>
            </a:pPr>
            <a:r>
              <a:t>Step 1: Submit URL</a:t>
            </a:r>
          </a:p>
        </p:txBody>
      </p:sp>
      <p:sp>
        <p:nvSpPr>
          <p:cNvPr id="7" name="Rectangle 6"/>
          <p:cNvSpPr/>
          <p:nvPr/>
        </p:nvSpPr>
        <p:spPr>
          <a:xfrm>
            <a:off x="548640" y="2103120"/>
            <a:ext cx="1691640" cy="13716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1508760" cy="1188720"/>
          </a:xfrm>
          <a:prstGeom prst="rect">
            <a:avLst/>
          </a:prstGeom>
          <a:noFill/>
        </p:spPr>
        <p:txBody>
          <a:bodyPr wrap="square">
            <a:spAutoFit/>
          </a:bodyPr>
          <a:lstStyle/>
          <a:p>
            <a:pPr algn="ctr">
              <a:defRPr sz="1400" b="0">
                <a:solidFill>
                  <a:srgbClr val="E0E6ED"/>
                </a:solidFill>
                <a:latin typeface="Calibri"/>
              </a:defRPr>
            </a:pPr>
            <a:r>
              <a:t>Paste GitHub</a:t>
            </a:r>
            <a:br/>
            <a:r>
              <a:t>repo URL in UI</a:t>
            </a:r>
          </a:p>
        </p:txBody>
      </p:sp>
      <p:sp>
        <p:nvSpPr>
          <p:cNvPr id="9" name="Right Arrow 8"/>
          <p:cNvSpPr/>
          <p:nvPr/>
        </p:nvSpPr>
        <p:spPr>
          <a:xfrm>
            <a:off x="2286000" y="1600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68880" y="1463040"/>
            <a:ext cx="1691640"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4600" y="1508760"/>
            <a:ext cx="1600200" cy="457200"/>
          </a:xfrm>
          <a:prstGeom prst="rect">
            <a:avLst/>
          </a:prstGeom>
          <a:noFill/>
        </p:spPr>
        <p:txBody>
          <a:bodyPr wrap="square">
            <a:spAutoFit/>
          </a:bodyPr>
          <a:lstStyle/>
          <a:p>
            <a:pPr algn="ctr">
              <a:defRPr sz="1600" b="1">
                <a:solidFill>
                  <a:srgbClr val="FFFFFF"/>
                </a:solidFill>
                <a:latin typeface="Calibri"/>
              </a:defRPr>
            </a:pPr>
            <a:r>
              <a:t>Step 2: Agent Starts</a:t>
            </a:r>
          </a:p>
        </p:txBody>
      </p:sp>
      <p:sp>
        <p:nvSpPr>
          <p:cNvPr id="12" name="Rectangle 11"/>
          <p:cNvSpPr/>
          <p:nvPr/>
        </p:nvSpPr>
        <p:spPr>
          <a:xfrm>
            <a:off x="2468880" y="2103120"/>
            <a:ext cx="1691640" cy="13716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2194560"/>
            <a:ext cx="1508760" cy="1188720"/>
          </a:xfrm>
          <a:prstGeom prst="rect">
            <a:avLst/>
          </a:prstGeom>
          <a:noFill/>
        </p:spPr>
        <p:txBody>
          <a:bodyPr wrap="square">
            <a:spAutoFit/>
          </a:bodyPr>
          <a:lstStyle/>
          <a:p>
            <a:pPr algn="ctr">
              <a:defRPr sz="1400" b="0">
                <a:solidFill>
                  <a:srgbClr val="E0E6ED"/>
                </a:solidFill>
                <a:latin typeface="Calibri"/>
              </a:defRPr>
            </a:pPr>
            <a:r>
              <a:t>ReACT loop</a:t>
            </a:r>
            <a:br/>
            <a:r>
              <a:t>initializes context</a:t>
            </a:r>
          </a:p>
        </p:txBody>
      </p:sp>
      <p:sp>
        <p:nvSpPr>
          <p:cNvPr id="14" name="Right Arrow 13"/>
          <p:cNvSpPr/>
          <p:nvPr/>
        </p:nvSpPr>
        <p:spPr>
          <a:xfrm>
            <a:off x="4206240" y="1600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463040"/>
            <a:ext cx="1691640"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508760"/>
            <a:ext cx="1600200" cy="457200"/>
          </a:xfrm>
          <a:prstGeom prst="rect">
            <a:avLst/>
          </a:prstGeom>
          <a:noFill/>
        </p:spPr>
        <p:txBody>
          <a:bodyPr wrap="square">
            <a:spAutoFit/>
          </a:bodyPr>
          <a:lstStyle/>
          <a:p>
            <a:pPr algn="ctr">
              <a:defRPr sz="1600" b="1">
                <a:solidFill>
                  <a:srgbClr val="FFFFFF"/>
                </a:solidFill>
                <a:latin typeface="Calibri"/>
              </a:defRPr>
            </a:pPr>
            <a:r>
              <a:t>Step 3: Fetch Code</a:t>
            </a:r>
          </a:p>
        </p:txBody>
      </p:sp>
      <p:sp>
        <p:nvSpPr>
          <p:cNvPr id="17" name="Rectangle 16"/>
          <p:cNvSpPr/>
          <p:nvPr/>
        </p:nvSpPr>
        <p:spPr>
          <a:xfrm>
            <a:off x="4389120" y="2103120"/>
            <a:ext cx="1691640" cy="13716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194560"/>
            <a:ext cx="1508760" cy="1188720"/>
          </a:xfrm>
          <a:prstGeom prst="rect">
            <a:avLst/>
          </a:prstGeom>
          <a:noFill/>
        </p:spPr>
        <p:txBody>
          <a:bodyPr wrap="square">
            <a:spAutoFit/>
          </a:bodyPr>
          <a:lstStyle/>
          <a:p>
            <a:pPr algn="ctr">
              <a:defRPr sz="1400" b="0">
                <a:solidFill>
                  <a:srgbClr val="E0E6ED"/>
                </a:solidFill>
                <a:latin typeface="Calibri"/>
              </a:defRPr>
            </a:pPr>
            <a:r>
              <a:t>Download &amp;</a:t>
            </a:r>
            <a:br/>
            <a:r>
              <a:t>analyze structure</a:t>
            </a:r>
          </a:p>
        </p:txBody>
      </p:sp>
      <p:sp>
        <p:nvSpPr>
          <p:cNvPr id="19" name="Right Arrow 18"/>
          <p:cNvSpPr/>
          <p:nvPr/>
        </p:nvSpPr>
        <p:spPr>
          <a:xfrm>
            <a:off x="6126480" y="1600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463040"/>
            <a:ext cx="1691640"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508760"/>
            <a:ext cx="1600200" cy="457200"/>
          </a:xfrm>
          <a:prstGeom prst="rect">
            <a:avLst/>
          </a:prstGeom>
          <a:noFill/>
        </p:spPr>
        <p:txBody>
          <a:bodyPr wrap="square">
            <a:spAutoFit/>
          </a:bodyPr>
          <a:lstStyle/>
          <a:p>
            <a:pPr algn="ctr">
              <a:defRPr sz="1600" b="1">
                <a:solidFill>
                  <a:srgbClr val="FFFFFF"/>
                </a:solidFill>
                <a:latin typeface="Calibri"/>
              </a:defRPr>
            </a:pPr>
            <a:r>
              <a:t>Step 4: Run Tools</a:t>
            </a:r>
          </a:p>
        </p:txBody>
      </p:sp>
      <p:sp>
        <p:nvSpPr>
          <p:cNvPr id="22" name="Rectangle 21"/>
          <p:cNvSpPr/>
          <p:nvPr/>
        </p:nvSpPr>
        <p:spPr>
          <a:xfrm>
            <a:off x="6309360" y="2103120"/>
            <a:ext cx="1691640" cy="13716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194560"/>
            <a:ext cx="1508760" cy="1188720"/>
          </a:xfrm>
          <a:prstGeom prst="rect">
            <a:avLst/>
          </a:prstGeom>
          <a:noFill/>
        </p:spPr>
        <p:txBody>
          <a:bodyPr wrap="square">
            <a:spAutoFit/>
          </a:bodyPr>
          <a:lstStyle/>
          <a:p>
            <a:pPr algn="ctr">
              <a:defRPr sz="1400" b="0">
                <a:solidFill>
                  <a:srgbClr val="E0E6ED"/>
                </a:solidFill>
                <a:latin typeface="Calibri"/>
              </a:defRPr>
            </a:pPr>
            <a:r>
              <a:t>Security, perf,</a:t>
            </a:r>
            <a:br/>
            <a:r>
              <a:t>quality checks</a:t>
            </a:r>
          </a:p>
        </p:txBody>
      </p:sp>
      <p:sp>
        <p:nvSpPr>
          <p:cNvPr id="24" name="Right Arrow 23"/>
          <p:cNvSpPr/>
          <p:nvPr/>
        </p:nvSpPr>
        <p:spPr>
          <a:xfrm>
            <a:off x="8046720" y="1600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1463040"/>
            <a:ext cx="1691640"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1508760"/>
            <a:ext cx="1600200" cy="457200"/>
          </a:xfrm>
          <a:prstGeom prst="rect">
            <a:avLst/>
          </a:prstGeom>
          <a:noFill/>
        </p:spPr>
        <p:txBody>
          <a:bodyPr wrap="square">
            <a:spAutoFit/>
          </a:bodyPr>
          <a:lstStyle/>
          <a:p>
            <a:pPr algn="ctr">
              <a:defRPr sz="1600" b="1">
                <a:solidFill>
                  <a:srgbClr val="FFFFFF"/>
                </a:solidFill>
                <a:latin typeface="Calibri"/>
              </a:defRPr>
            </a:pPr>
            <a:r>
              <a:t>Step 5: Generate</a:t>
            </a:r>
          </a:p>
        </p:txBody>
      </p:sp>
      <p:sp>
        <p:nvSpPr>
          <p:cNvPr id="27" name="Rectangle 26"/>
          <p:cNvSpPr/>
          <p:nvPr/>
        </p:nvSpPr>
        <p:spPr>
          <a:xfrm>
            <a:off x="8229600" y="2103120"/>
            <a:ext cx="1691640" cy="13716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2194560"/>
            <a:ext cx="1508760" cy="1188720"/>
          </a:xfrm>
          <a:prstGeom prst="rect">
            <a:avLst/>
          </a:prstGeom>
          <a:noFill/>
        </p:spPr>
        <p:txBody>
          <a:bodyPr wrap="square">
            <a:spAutoFit/>
          </a:bodyPr>
          <a:lstStyle/>
          <a:p>
            <a:pPr algn="ctr">
              <a:defRPr sz="1400" b="0">
                <a:solidFill>
                  <a:srgbClr val="E0E6ED"/>
                </a:solidFill>
                <a:latin typeface="Calibri"/>
              </a:defRPr>
            </a:pPr>
            <a:r>
              <a:t>LLM creates</a:t>
            </a:r>
            <a:br/>
            <a:r>
              <a:t>review report</a:t>
            </a:r>
          </a:p>
        </p:txBody>
      </p:sp>
      <p:sp>
        <p:nvSpPr>
          <p:cNvPr id="29" name="Right Arrow 28"/>
          <p:cNvSpPr/>
          <p:nvPr/>
        </p:nvSpPr>
        <p:spPr>
          <a:xfrm>
            <a:off x="9966960" y="1600200"/>
            <a:ext cx="548640" cy="365760"/>
          </a:xfrm>
          <a:prstGeom prst="rightArrow">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149840" y="1463040"/>
            <a:ext cx="1691640" cy="54864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95560" y="1508760"/>
            <a:ext cx="1600200" cy="457200"/>
          </a:xfrm>
          <a:prstGeom prst="rect">
            <a:avLst/>
          </a:prstGeom>
          <a:noFill/>
        </p:spPr>
        <p:txBody>
          <a:bodyPr wrap="square">
            <a:spAutoFit/>
          </a:bodyPr>
          <a:lstStyle/>
          <a:p>
            <a:pPr algn="ctr">
              <a:defRPr sz="1600" b="1">
                <a:solidFill>
                  <a:srgbClr val="FFFFFF"/>
                </a:solidFill>
                <a:latin typeface="Calibri"/>
              </a:defRPr>
            </a:pPr>
            <a:r>
              <a:t>Step 6: Display</a:t>
            </a:r>
          </a:p>
        </p:txBody>
      </p:sp>
      <p:sp>
        <p:nvSpPr>
          <p:cNvPr id="32" name="Rectangle 31"/>
          <p:cNvSpPr/>
          <p:nvPr/>
        </p:nvSpPr>
        <p:spPr>
          <a:xfrm>
            <a:off x="10149840" y="2103120"/>
            <a:ext cx="1691640" cy="1371600"/>
          </a:xfrm>
          <a:prstGeom prst="rect">
            <a:avLst/>
          </a:prstGeom>
          <a:solidFill>
            <a:srgbClr val="142B44"/>
          </a:solidFill>
          <a:ln>
            <a:solidFill>
              <a:srgbClr val="2C4A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41280" y="2194560"/>
            <a:ext cx="1508760" cy="1188720"/>
          </a:xfrm>
          <a:prstGeom prst="rect">
            <a:avLst/>
          </a:prstGeom>
          <a:noFill/>
        </p:spPr>
        <p:txBody>
          <a:bodyPr wrap="square">
            <a:spAutoFit/>
          </a:bodyPr>
          <a:lstStyle/>
          <a:p>
            <a:pPr algn="ctr">
              <a:defRPr sz="1400" b="0">
                <a:solidFill>
                  <a:srgbClr val="E0E6ED"/>
                </a:solidFill>
                <a:latin typeface="Calibri"/>
              </a:defRPr>
            </a:pPr>
            <a:r>
              <a:t>Results shown</a:t>
            </a:r>
            <a:br/>
            <a:r>
              <a:t>in Streamlit UI</a:t>
            </a:r>
          </a:p>
        </p:txBody>
      </p:sp>
      <p:sp>
        <p:nvSpPr>
          <p:cNvPr id="34" name="TextBox 33"/>
          <p:cNvSpPr txBox="1"/>
          <p:nvPr/>
        </p:nvSpPr>
        <p:spPr>
          <a:xfrm>
            <a:off x="548640" y="3840480"/>
            <a:ext cx="10972800" cy="365760"/>
          </a:xfrm>
          <a:prstGeom prst="rect">
            <a:avLst/>
          </a:prstGeom>
          <a:noFill/>
        </p:spPr>
        <p:txBody>
          <a:bodyPr wrap="square">
            <a:spAutoFit/>
          </a:bodyPr>
          <a:lstStyle/>
          <a:p>
            <a:pPr algn="ctr">
              <a:defRPr sz="1600" b="0">
                <a:solidFill>
                  <a:srgbClr val="F39C12"/>
                </a:solidFill>
                <a:latin typeface="Calibri"/>
              </a:defRPr>
            </a:pPr>
            <a:r>
              <a:t>Total time: ~30-60 seconds per review • Results include: quality score, issues found, security vulnerabilities, performance bottlenecks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Results &amp; Demo</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303520" cy="2286000"/>
          </a:xfrm>
          <a:prstGeom prst="rect">
            <a:avLst/>
          </a:prstGeom>
          <a:solidFill>
            <a:srgbClr val="243B55"/>
          </a:solidFill>
          <a:ln>
            <a:solidFill>
              <a:srgbClr val="3A5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0"/>
              </a:spcBef>
              <a:defRPr sz="1400">
                <a:solidFill>
                  <a:srgbClr val="8AAAC8"/>
                </a:solidFill>
                <a:latin typeface="Calibri"/>
              </a:defRPr>
            </a:pPr>
            <a:r>
              <a:t>[ Streamlit UI Screenshot ]</a:t>
            </a:r>
          </a:p>
        </p:txBody>
      </p:sp>
      <p:sp>
        <p:nvSpPr>
          <p:cNvPr id="6" name="Rectangle 5"/>
          <p:cNvSpPr/>
          <p:nvPr/>
        </p:nvSpPr>
        <p:spPr>
          <a:xfrm>
            <a:off x="6217920" y="1371600"/>
            <a:ext cx="5303520" cy="2286000"/>
          </a:xfrm>
          <a:prstGeom prst="rect">
            <a:avLst/>
          </a:prstGeom>
          <a:solidFill>
            <a:srgbClr val="243B55"/>
          </a:solidFill>
          <a:ln>
            <a:solidFill>
              <a:srgbClr val="3A5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0"/>
              </a:spcBef>
              <a:defRPr sz="1400">
                <a:solidFill>
                  <a:srgbClr val="8AAAC8"/>
                </a:solidFill>
                <a:latin typeface="Calibri"/>
              </a:defRPr>
            </a:pPr>
            <a:r>
              <a:t>[ API Docs Screenshot ]</a:t>
            </a:r>
          </a:p>
        </p:txBody>
      </p:sp>
      <p:sp>
        <p:nvSpPr>
          <p:cNvPr id="7" name="Rectangle 6"/>
          <p:cNvSpPr/>
          <p:nvPr/>
        </p:nvSpPr>
        <p:spPr>
          <a:xfrm>
            <a:off x="548640" y="3931920"/>
            <a:ext cx="5303520" cy="2286000"/>
          </a:xfrm>
          <a:prstGeom prst="rect">
            <a:avLst/>
          </a:prstGeom>
          <a:solidFill>
            <a:srgbClr val="243B55"/>
          </a:solidFill>
          <a:ln>
            <a:solidFill>
              <a:srgbClr val="3A5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0"/>
              </a:spcBef>
              <a:defRPr sz="1400">
                <a:solidFill>
                  <a:srgbClr val="8AAAC8"/>
                </a:solidFill>
                <a:latin typeface="Calibri"/>
              </a:defRPr>
            </a:pPr>
            <a:r>
              <a:t>[ Review Results Screenshot ]</a:t>
            </a:r>
          </a:p>
        </p:txBody>
      </p:sp>
      <p:sp>
        <p:nvSpPr>
          <p:cNvPr id="8" name="Rectangle 7"/>
          <p:cNvSpPr/>
          <p:nvPr/>
        </p:nvSpPr>
        <p:spPr>
          <a:xfrm>
            <a:off x="6217920" y="3931920"/>
            <a:ext cx="5303520" cy="2286000"/>
          </a:xfrm>
          <a:prstGeom prst="rect">
            <a:avLst/>
          </a:prstGeom>
          <a:solidFill>
            <a:srgbClr val="243B55"/>
          </a:solidFill>
          <a:ln>
            <a:solidFill>
              <a:srgbClr val="3A5A7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0"/>
              </a:spcBef>
              <a:defRPr sz="1400">
                <a:solidFill>
                  <a:srgbClr val="8AAAC8"/>
                </a:solidFill>
                <a:latin typeface="Calibri"/>
              </a:defRPr>
            </a:pPr>
            <a:r>
              <a:t>[ Test Coverage Screenshot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Lessons Learned</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1200"/>
              </a:spcAft>
              <a:defRPr sz="2000">
                <a:solidFill>
                  <a:srgbClr val="E0E6ED"/>
                </a:solidFill>
                <a:latin typeface="Calibri"/>
              </a:defRPr>
            </a:pPr>
            <a:r>
              <a:t>ReACT framework is powerful but prompt engineering is critical for quality results</a:t>
            </a:r>
          </a:p>
          <a:p>
            <a:pPr>
              <a:spcAft>
                <a:spcPts val="1200"/>
              </a:spcAft>
              <a:defRPr sz="2000">
                <a:solidFill>
                  <a:srgbClr val="E0E6ED"/>
                </a:solidFill>
                <a:latin typeface="Calibri"/>
              </a:defRPr>
            </a:pPr>
            <a:r>
              <a:t>Tool design matters — well-designed tools make the agent smarter and more reliable</a:t>
            </a:r>
          </a:p>
          <a:p>
            <a:pPr>
              <a:spcAft>
                <a:spcPts val="1200"/>
              </a:spcAft>
              <a:defRPr sz="2000">
                <a:solidFill>
                  <a:srgbClr val="E0E6ED"/>
                </a:solidFill>
                <a:latin typeface="Calibri"/>
              </a:defRPr>
            </a:pPr>
            <a:r>
              <a:t>Testing saves time — 257 tests caught regressions early and gave confidence to refactor</a:t>
            </a:r>
          </a:p>
          <a:p>
            <a:pPr>
              <a:spcAft>
                <a:spcPts val="1200"/>
              </a:spcAft>
              <a:defRPr sz="2000">
                <a:solidFill>
                  <a:srgbClr val="E0E6ED"/>
                </a:solidFill>
                <a:latin typeface="Calibri"/>
              </a:defRPr>
            </a:pPr>
            <a:r>
              <a:t>Clear code structure helps — modular design let 5 people work in parallel without conflicts</a:t>
            </a:r>
          </a:p>
          <a:p>
            <a:pPr>
              <a:spcAft>
                <a:spcPts val="1200"/>
              </a:spcAft>
              <a:defRPr sz="2000">
                <a:solidFill>
                  <a:srgbClr val="E0E6ED"/>
                </a:solidFill>
                <a:latin typeface="Calibri"/>
              </a:defRPr>
            </a:pPr>
            <a:r>
              <a:t>Team coordination is essential — daily standups and shared docs kept everyone aligned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l">
              <a:defRPr sz="3600" b="1">
                <a:solidFill>
                  <a:srgbClr val="FFFFFF"/>
                </a:solidFill>
                <a:latin typeface="Calibri"/>
              </a:defRPr>
            </a:pPr>
            <a:r>
              <a:t>Future Improvements &amp; Conclusion</a:t>
            </a:r>
          </a:p>
        </p:txBody>
      </p:sp>
      <p:sp>
        <p:nvSpPr>
          <p:cNvPr id="4" name="Rectangle 3"/>
          <p:cNvSpPr/>
          <p:nvPr/>
        </p:nvSpPr>
        <p:spPr>
          <a:xfrm>
            <a:off x="548640" y="1097280"/>
            <a:ext cx="3657600" cy="36576"/>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029200" cy="365760"/>
          </a:xfrm>
          <a:prstGeom prst="rect">
            <a:avLst/>
          </a:prstGeom>
          <a:noFill/>
        </p:spPr>
        <p:txBody>
          <a:bodyPr wrap="square">
            <a:spAutoFit/>
          </a:bodyPr>
          <a:lstStyle/>
          <a:p>
            <a:pPr algn="l">
              <a:defRPr sz="2400" b="1">
                <a:solidFill>
                  <a:srgbClr val="F39C12"/>
                </a:solidFill>
                <a:latin typeface="Calibri"/>
              </a:defRPr>
            </a:pPr>
            <a:r>
              <a:t>Future Improvements</a:t>
            </a:r>
          </a:p>
        </p:txBody>
      </p:sp>
      <p:sp>
        <p:nvSpPr>
          <p:cNvPr id="6" name="TextBox 5"/>
          <p:cNvSpPr txBox="1"/>
          <p:nvPr/>
        </p:nvSpPr>
        <p:spPr>
          <a:xfrm>
            <a:off x="548640" y="1828800"/>
            <a:ext cx="5029200" cy="365760"/>
          </a:xfrm>
          <a:prstGeom prst="rect">
            <a:avLst/>
          </a:prstGeom>
          <a:noFill/>
        </p:spPr>
        <p:txBody>
          <a:bodyPr wrap="square">
            <a:spAutoFit/>
          </a:bodyPr>
          <a:lstStyle/>
          <a:p>
            <a:pPr algn="l">
              <a:defRPr sz="1600" b="0">
                <a:solidFill>
                  <a:srgbClr val="E0E6ED"/>
                </a:solidFill>
                <a:latin typeface="Calibri"/>
              </a:defRPr>
            </a:pPr>
            <a:r>
              <a:t>🔹 Multi-language support (Java, C++, Go)</a:t>
            </a:r>
          </a:p>
        </p:txBody>
      </p:sp>
      <p:sp>
        <p:nvSpPr>
          <p:cNvPr id="7" name="TextBox 6"/>
          <p:cNvSpPr txBox="1"/>
          <p:nvPr/>
        </p:nvSpPr>
        <p:spPr>
          <a:xfrm>
            <a:off x="548640" y="2240280"/>
            <a:ext cx="5029200" cy="365760"/>
          </a:xfrm>
          <a:prstGeom prst="rect">
            <a:avLst/>
          </a:prstGeom>
          <a:noFill/>
        </p:spPr>
        <p:txBody>
          <a:bodyPr wrap="square">
            <a:spAutoFit/>
          </a:bodyPr>
          <a:lstStyle/>
          <a:p>
            <a:pPr algn="l">
              <a:defRPr sz="1600" b="0">
                <a:solidFill>
                  <a:srgbClr val="E0E6ED"/>
                </a:solidFill>
                <a:latin typeface="Calibri"/>
              </a:defRPr>
            </a:pPr>
            <a:r>
              <a:t>🔹 Custom rule definitions for teams</a:t>
            </a:r>
          </a:p>
        </p:txBody>
      </p:sp>
      <p:sp>
        <p:nvSpPr>
          <p:cNvPr id="8" name="TextBox 7"/>
          <p:cNvSpPr txBox="1"/>
          <p:nvPr/>
        </p:nvSpPr>
        <p:spPr>
          <a:xfrm>
            <a:off x="548640" y="2651760"/>
            <a:ext cx="5029200" cy="365760"/>
          </a:xfrm>
          <a:prstGeom prst="rect">
            <a:avLst/>
          </a:prstGeom>
          <a:noFill/>
        </p:spPr>
        <p:txBody>
          <a:bodyPr wrap="square">
            <a:spAutoFit/>
          </a:bodyPr>
          <a:lstStyle/>
          <a:p>
            <a:pPr algn="l">
              <a:defRPr sz="1600" b="0">
                <a:solidFill>
                  <a:srgbClr val="E0E6ED"/>
                </a:solidFill>
                <a:latin typeface="Calibri"/>
              </a:defRPr>
            </a:pPr>
            <a:r>
              <a:t>🔹 Automated PR comments &amp; fix suggestions</a:t>
            </a:r>
          </a:p>
        </p:txBody>
      </p:sp>
      <p:sp>
        <p:nvSpPr>
          <p:cNvPr id="9" name="TextBox 8"/>
          <p:cNvSpPr txBox="1"/>
          <p:nvPr/>
        </p:nvSpPr>
        <p:spPr>
          <a:xfrm>
            <a:off x="548640" y="3063240"/>
            <a:ext cx="5029200" cy="365760"/>
          </a:xfrm>
          <a:prstGeom prst="rect">
            <a:avLst/>
          </a:prstGeom>
          <a:noFill/>
        </p:spPr>
        <p:txBody>
          <a:bodyPr wrap="square">
            <a:spAutoFit/>
          </a:bodyPr>
          <a:lstStyle/>
          <a:p>
            <a:pPr algn="l">
              <a:defRPr sz="1600" b="0">
                <a:solidFill>
                  <a:srgbClr val="E0E6ED"/>
                </a:solidFill>
                <a:latin typeface="Calibri"/>
              </a:defRPr>
            </a:pPr>
            <a:r>
              <a:t>🔹 CI/CD pipeline integration</a:t>
            </a:r>
          </a:p>
        </p:txBody>
      </p:sp>
      <p:sp>
        <p:nvSpPr>
          <p:cNvPr id="10" name="TextBox 9"/>
          <p:cNvSpPr txBox="1"/>
          <p:nvPr/>
        </p:nvSpPr>
        <p:spPr>
          <a:xfrm>
            <a:off x="548640" y="3474720"/>
            <a:ext cx="5029200" cy="365760"/>
          </a:xfrm>
          <a:prstGeom prst="rect">
            <a:avLst/>
          </a:prstGeom>
          <a:noFill/>
        </p:spPr>
        <p:txBody>
          <a:bodyPr wrap="square">
            <a:spAutoFit/>
          </a:bodyPr>
          <a:lstStyle/>
          <a:p>
            <a:pPr algn="l">
              <a:defRPr sz="1600" b="0">
                <a:solidFill>
                  <a:srgbClr val="E0E6ED"/>
                </a:solidFill>
                <a:latin typeface="Calibri"/>
              </a:defRPr>
            </a:pPr>
            <a:r>
              <a:t>🔹 Real-time collaborative reviews</a:t>
            </a:r>
          </a:p>
        </p:txBody>
      </p:sp>
      <p:sp>
        <p:nvSpPr>
          <p:cNvPr id="11" name="TextBox 10"/>
          <p:cNvSpPr txBox="1"/>
          <p:nvPr/>
        </p:nvSpPr>
        <p:spPr>
          <a:xfrm>
            <a:off x="6400800" y="1371600"/>
            <a:ext cx="5029200" cy="365760"/>
          </a:xfrm>
          <a:prstGeom prst="rect">
            <a:avLst/>
          </a:prstGeom>
          <a:noFill/>
        </p:spPr>
        <p:txBody>
          <a:bodyPr wrap="square">
            <a:spAutoFit/>
          </a:bodyPr>
          <a:lstStyle/>
          <a:p>
            <a:pPr algn="l">
              <a:defRPr sz="2400" b="1">
                <a:solidFill>
                  <a:srgbClr val="27AE60"/>
                </a:solidFill>
                <a:latin typeface="Calibri"/>
              </a:defRPr>
            </a:pPr>
            <a:r>
              <a:t>Conclusion</a:t>
            </a:r>
          </a:p>
        </p:txBody>
      </p:sp>
      <p:sp>
        <p:nvSpPr>
          <p:cNvPr id="12" name="TextBox 11"/>
          <p:cNvSpPr txBox="1"/>
          <p:nvPr/>
        </p:nvSpPr>
        <p:spPr>
          <a:xfrm>
            <a:off x="6400800" y="1828800"/>
            <a:ext cx="5029200" cy="365760"/>
          </a:xfrm>
          <a:prstGeom prst="rect">
            <a:avLst/>
          </a:prstGeom>
          <a:noFill/>
        </p:spPr>
        <p:txBody>
          <a:bodyPr wrap="square">
            <a:spAutoFit/>
          </a:bodyPr>
          <a:lstStyle/>
          <a:p>
            <a:pPr algn="l">
              <a:defRPr sz="1600" b="0">
                <a:solidFill>
                  <a:srgbClr val="E0E6ED"/>
                </a:solidFill>
                <a:latin typeface="Calibri"/>
              </a:defRPr>
            </a:pPr>
            <a:r>
              <a:t>✅ Successfully built an agentic AI code review system</a:t>
            </a:r>
          </a:p>
        </p:txBody>
      </p:sp>
      <p:sp>
        <p:nvSpPr>
          <p:cNvPr id="13" name="TextBox 12"/>
          <p:cNvSpPr txBox="1"/>
          <p:nvPr/>
        </p:nvSpPr>
        <p:spPr>
          <a:xfrm>
            <a:off x="6400800" y="2240280"/>
            <a:ext cx="5029200" cy="365760"/>
          </a:xfrm>
          <a:prstGeom prst="rect">
            <a:avLst/>
          </a:prstGeom>
          <a:noFill/>
        </p:spPr>
        <p:txBody>
          <a:bodyPr wrap="square">
            <a:spAutoFit/>
          </a:bodyPr>
          <a:lstStyle/>
          <a:p>
            <a:pPr algn="l">
              <a:defRPr sz="1600" b="0">
                <a:solidFill>
                  <a:srgbClr val="E0E6ED"/>
                </a:solidFill>
                <a:latin typeface="Calibri"/>
              </a:defRPr>
            </a:pPr>
            <a:r>
              <a:t>✅ ReACT loop architecture proven effective</a:t>
            </a:r>
          </a:p>
        </p:txBody>
      </p:sp>
      <p:sp>
        <p:nvSpPr>
          <p:cNvPr id="14" name="TextBox 13"/>
          <p:cNvSpPr txBox="1"/>
          <p:nvPr/>
        </p:nvSpPr>
        <p:spPr>
          <a:xfrm>
            <a:off x="6400800" y="2651760"/>
            <a:ext cx="5029200" cy="365760"/>
          </a:xfrm>
          <a:prstGeom prst="rect">
            <a:avLst/>
          </a:prstGeom>
          <a:noFill/>
        </p:spPr>
        <p:txBody>
          <a:bodyPr wrap="square">
            <a:spAutoFit/>
          </a:bodyPr>
          <a:lstStyle/>
          <a:p>
            <a:pPr algn="l">
              <a:defRPr sz="1600" b="0">
                <a:solidFill>
                  <a:srgbClr val="E0E6ED"/>
                </a:solidFill>
                <a:latin typeface="Calibri"/>
              </a:defRPr>
            </a:pPr>
            <a:r>
              <a:t>✅ 85/100 audit score validates code quality</a:t>
            </a:r>
          </a:p>
        </p:txBody>
      </p:sp>
      <p:sp>
        <p:nvSpPr>
          <p:cNvPr id="15" name="TextBox 14"/>
          <p:cNvSpPr txBox="1"/>
          <p:nvPr/>
        </p:nvSpPr>
        <p:spPr>
          <a:xfrm>
            <a:off x="6400800" y="3063240"/>
            <a:ext cx="5029200" cy="365760"/>
          </a:xfrm>
          <a:prstGeom prst="rect">
            <a:avLst/>
          </a:prstGeom>
          <a:noFill/>
        </p:spPr>
        <p:txBody>
          <a:bodyPr wrap="square">
            <a:spAutoFit/>
          </a:bodyPr>
          <a:lstStyle/>
          <a:p>
            <a:pPr algn="l">
              <a:defRPr sz="1600" b="0">
                <a:solidFill>
                  <a:srgbClr val="E0E6ED"/>
                </a:solidFill>
                <a:latin typeface="Calibri"/>
              </a:defRPr>
            </a:pPr>
            <a:r>
              <a:t>✅ 257 tests ensure reliability</a:t>
            </a:r>
          </a:p>
        </p:txBody>
      </p:sp>
      <p:sp>
        <p:nvSpPr>
          <p:cNvPr id="16" name="TextBox 15"/>
          <p:cNvSpPr txBox="1"/>
          <p:nvPr/>
        </p:nvSpPr>
        <p:spPr>
          <a:xfrm>
            <a:off x="6400800" y="3474720"/>
            <a:ext cx="5029200" cy="365760"/>
          </a:xfrm>
          <a:prstGeom prst="rect">
            <a:avLst/>
          </a:prstGeom>
          <a:noFill/>
        </p:spPr>
        <p:txBody>
          <a:bodyPr wrap="square">
            <a:spAutoFit/>
          </a:bodyPr>
          <a:lstStyle/>
          <a:p>
            <a:pPr algn="l">
              <a:defRPr sz="1600" b="0">
                <a:solidFill>
                  <a:srgbClr val="E0E6ED"/>
                </a:solidFill>
                <a:latin typeface="Calibri"/>
              </a:defRPr>
            </a:pPr>
            <a:r>
              <a:t>✅ Team collaborated effectively across all roles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spAutoFit/>
          </a:bodyPr>
          <a:lstStyle/>
          <a:p>
            <a:pPr algn="ctr">
              <a:defRPr sz="3600" b="1">
                <a:solidFill>
                  <a:srgbClr val="FFFFFF"/>
                </a:solidFill>
                <a:latin typeface="Calibri"/>
              </a:defRPr>
            </a:pPr>
            <a:r>
              <a:t>Questions &amp; Discussion</a:t>
            </a:r>
          </a:p>
        </p:txBody>
      </p:sp>
      <p:sp>
        <p:nvSpPr>
          <p:cNvPr id="4" name="Rectangle 3"/>
          <p:cNvSpPr/>
          <p:nvPr/>
        </p:nvSpPr>
        <p:spPr>
          <a:xfrm>
            <a:off x="4114800" y="1097280"/>
            <a:ext cx="3657600" cy="36576"/>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058400" cy="914400"/>
          </a:xfrm>
          <a:prstGeom prst="rect">
            <a:avLst/>
          </a:prstGeom>
          <a:noFill/>
        </p:spPr>
        <p:txBody>
          <a:bodyPr wrap="square">
            <a:spAutoFit/>
          </a:bodyPr>
          <a:lstStyle/>
          <a:p>
            <a:pPr algn="ctr">
              <a:defRPr sz="4000" b="1">
                <a:solidFill>
                  <a:srgbClr val="F39C12"/>
                </a:solidFill>
                <a:latin typeface="Calibri"/>
              </a:defRPr>
            </a:pPr>
            <a:r>
              <a:t>Thank you for your time!</a:t>
            </a:r>
          </a:p>
        </p:txBody>
      </p:sp>
      <p:sp>
        <p:nvSpPr>
          <p:cNvPr id="6" name="TextBox 5"/>
          <p:cNvSpPr txBox="1"/>
          <p:nvPr/>
        </p:nvSpPr>
        <p:spPr>
          <a:xfrm>
            <a:off x="914400" y="2926080"/>
            <a:ext cx="10058400" cy="548640"/>
          </a:xfrm>
          <a:prstGeom prst="rect">
            <a:avLst/>
          </a:prstGeom>
          <a:noFill/>
        </p:spPr>
        <p:txBody>
          <a:bodyPr wrap="square">
            <a:spAutoFit/>
          </a:bodyPr>
          <a:lstStyle/>
          <a:p>
            <a:pPr algn="ctr">
              <a:defRPr sz="2400" b="0">
                <a:solidFill>
                  <a:srgbClr val="E0E6ED"/>
                </a:solidFill>
                <a:latin typeface="Calibri"/>
              </a:defRPr>
            </a:pPr>
            <a:r>
              <a:t>We welcome your questions and feedback</a:t>
            </a:r>
          </a:p>
        </p:txBody>
      </p:sp>
      <p:sp>
        <p:nvSpPr>
          <p:cNvPr id="7" name="TextBox 6"/>
          <p:cNvSpPr txBox="1"/>
          <p:nvPr/>
        </p:nvSpPr>
        <p:spPr>
          <a:xfrm>
            <a:off x="914400" y="4114800"/>
            <a:ext cx="10058400" cy="457200"/>
          </a:xfrm>
          <a:prstGeom prst="rect">
            <a:avLst/>
          </a:prstGeom>
          <a:noFill/>
        </p:spPr>
        <p:txBody>
          <a:bodyPr wrap="square">
            <a:spAutoFit/>
          </a:bodyPr>
          <a:lstStyle/>
          <a:p>
            <a:pPr algn="ctr">
              <a:defRPr sz="1600" b="0">
                <a:solidFill>
                  <a:srgbClr val="8AAAC8"/>
                </a:solidFill>
                <a:latin typeface="Calibri"/>
              </a:defRPr>
            </a:pPr>
            <a:r>
              <a:t>Contact: code-review-agent@project.com</a:t>
            </a:r>
          </a:p>
        </p:txBody>
      </p:sp>
      <p:sp>
        <p:nvSpPr>
          <p:cNvPr id="8" name="TextBox 7"/>
          <p:cNvSpPr txBox="1"/>
          <p:nvPr/>
        </p:nvSpPr>
        <p:spPr>
          <a:xfrm>
            <a:off x="914400" y="4572000"/>
            <a:ext cx="10058400" cy="457200"/>
          </a:xfrm>
          <a:prstGeom prst="rect">
            <a:avLst/>
          </a:prstGeom>
          <a:noFill/>
        </p:spPr>
        <p:txBody>
          <a:bodyPr wrap="square">
            <a:spAutoFit/>
          </a:bodyPr>
          <a:lstStyle/>
          <a:p>
            <a:pPr algn="ctr">
              <a:defRPr sz="1600" b="0">
                <a:solidFill>
                  <a:srgbClr val="8AAAC8"/>
                </a:solidFill>
                <a:latin typeface="Calibri"/>
              </a:defRPr>
            </a:pPr>
            <a:r>
              <a:t>Repository: github.com/code-review-agent</a:t>
            </a:r>
          </a:p>
        </p:txBody>
      </p:sp>
      <p:sp>
        <p:nvSpPr>
          <p:cNvPr id="9" name="TextBox 8"/>
          <p:cNvSpPr txBox="1"/>
          <p:nvPr/>
        </p:nvSpPr>
        <p:spPr>
          <a:xfrm>
            <a:off x="914400" y="5303520"/>
            <a:ext cx="10058400" cy="365760"/>
          </a:xfrm>
          <a:prstGeom prst="rect">
            <a:avLst/>
          </a:prstGeom>
          <a:noFill/>
        </p:spPr>
        <p:txBody>
          <a:bodyPr wrap="square">
            <a:spAutoFit/>
          </a:bodyPr>
          <a:lstStyle/>
          <a:p>
            <a:pPr algn="ctr">
              <a:defRPr sz="1400" b="0">
                <a:solidFill>
                  <a:srgbClr val="6A8AA8"/>
                </a:solidFill>
                <a:latin typeface="Calibri"/>
              </a:defRPr>
            </a:pPr>
            <a:r>
              <a:t>Slides available at: presentations/Code-Review-Agent-Overview.pptx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